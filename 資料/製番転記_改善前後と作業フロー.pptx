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40F7D2-0634-D235-D05E-D5016FA6C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5328C7B-2581-0F17-BDB7-7677E7DAE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78B43D-E1DD-5502-C289-B4BD4AA6F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DFF1-8E26-49A1-9000-3F13F8EF1CA9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2EF873-4138-E963-5F17-69648848F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BA10E7-AB0C-E02F-AFFC-42AC806A1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31E0-F2AE-4410-A938-D18D9A2A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3956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1A8A6-7CEB-00E0-0314-F1B0DB9E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1BA251-4D36-54B0-4584-8C03A025E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CBF897-0EDF-F018-2481-D2DD5784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DFF1-8E26-49A1-9000-3F13F8EF1CA9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BEE3C9-E70C-C233-1A78-AE76011A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13578D-7FA0-3F09-586A-9F0FF9A4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31E0-F2AE-4410-A938-D18D9A2A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10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3C3276-7E6B-E548-3677-8D12DEFE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C15521-2F78-5F74-E099-994630F97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C00C07-9BA5-B808-5D9C-3CA17473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DFF1-8E26-49A1-9000-3F13F8EF1CA9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B798BF-A5CA-081B-AA6A-9F0A2F25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B00FC8-D556-43EA-A782-C299C6F0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31E0-F2AE-4410-A938-D18D9A2A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0626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E17DE7-BE66-D26A-E849-64EED0525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693AF3-3CB9-3857-ED65-B330FB653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7D0DD01-8644-DB2D-2A30-3D44C9901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181033-F721-DAAE-4661-532BD11A4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DFF1-8E26-49A1-9000-3F13F8EF1CA9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CBE50B7-D7CC-7A62-EAAB-E8F37FE4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7E8630-CB17-9A06-ABFB-1E2A5D90E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31E0-F2AE-4410-A938-D18D9A2A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02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1D914A-8C5A-A6EC-F6D9-0433C61F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0B8342-3EEE-13B3-C4D1-22426F678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3C94AC-C11B-A947-4660-0A2E0A679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EBA8553-4A8E-FD79-BE4F-1467CEAAA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2DED5B7-A6F9-5C7D-71A3-E69CB1AE0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01320C8-93CF-E799-8A0E-1DA9A18F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DFF1-8E26-49A1-9000-3F13F8EF1CA9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298638C-25B3-70A9-4574-23BE6069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AB19AF6-A182-90E9-3FAD-4E98ADD6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31E0-F2AE-4410-A938-D18D9A2A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727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7C5C91-7CE2-563D-FC2F-83F95499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0F958DD-FF5C-487E-E771-178BF80A6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DFF1-8E26-49A1-9000-3F13F8EF1CA9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03767E8-A50C-40E2-6C38-550AD5BC9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BD181D-08AB-C860-7FC8-1C3DF106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31E0-F2AE-4410-A938-D18D9A2A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592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4366E56-DEED-ABB0-73BC-4A909A9B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DFF1-8E26-49A1-9000-3F13F8EF1CA9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60D61F5-5F36-9E4C-1203-F38E5FAA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7996AB-2A84-8DCE-1115-311B7EA6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31E0-F2AE-4410-A938-D18D9A2A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350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166E25-83C2-D36C-F0D9-D59E4AF0E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BE6DE0-B4E1-E42B-B60C-43BA79B16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E88A2B-F3BC-2BF2-74C0-35F4BB55B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A6A65E-ED50-959F-085C-2BADBDEB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DFF1-8E26-49A1-9000-3F13F8EF1CA9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FC680E-4C38-6308-D6F7-CC4AEAF89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AD2B6C-210A-F70B-36C7-04010186C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31E0-F2AE-4410-A938-D18D9A2A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196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8ED4A-075D-13DC-7AFD-369B8CA3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642A8E8-006B-DFCB-28EF-9463FCE4A4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7B55DF-C7B5-6728-ED32-C3324DCA4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F6B119-D418-73C3-AE9D-240E2C6B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DFF1-8E26-49A1-9000-3F13F8EF1CA9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9280EC-C047-851A-804B-5379E292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8FA420-84CE-788C-2DFF-2B15A268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31E0-F2AE-4410-A938-D18D9A2A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83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4B11A6-9487-1AD5-79C9-9F97D145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8ECAB3-5488-6392-A044-1420117A9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BDCE88-F873-229A-5F2C-6D1C6B9D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DFF1-8E26-49A1-9000-3F13F8EF1CA9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138E4D-C672-160B-D477-09064F06D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C5CD09-79EA-CB0A-1ECD-B5FAD9D3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31E0-F2AE-4410-A938-D18D9A2A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26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E60DF0A-CD11-91F1-1AA1-D9D99E80E7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E86D5D-5DDF-A8DA-66C2-2D5C64990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65E1E6-6C05-0741-4300-DA619F0A2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DFF1-8E26-49A1-9000-3F13F8EF1CA9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6FAD58-AD55-DA2B-4EF7-B26C4AB65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01654D-E10E-99BA-2886-48824E33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31E0-F2AE-4410-A938-D18D9A2A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031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BB6CFA-6CC2-DCCD-89CD-4BEE1C5F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8B160F-CF0F-4015-BE6A-9C211F948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A2657-0F6B-350D-EAD7-1DDF2E4514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7DFF1-8E26-49A1-9000-3F13F8EF1CA9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531832-39EC-F671-4E49-AD7DB300C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555CDC-A1AF-25E7-C8C8-C5B4AA616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E31E0-F2AE-4410-A938-D18D9A2A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75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4B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B686BA5-59A2-4115-D0D7-098E0199B2B9}"/>
              </a:ext>
            </a:extLst>
          </p:cNvPr>
          <p:cNvSpPr txBox="1"/>
          <p:nvPr/>
        </p:nvSpPr>
        <p:spPr>
          <a:xfrm>
            <a:off x="762000" y="1651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zh-TW" altLang="en-US" sz="1500" b="1">
                <a:solidFill>
                  <a:srgbClr val="FFC85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業務改善報告　納期回答取得業務</a:t>
            </a:r>
            <a:endParaRPr kumimoji="1" lang="ja-JP" altLang="en-US" sz="1500" b="1">
              <a:solidFill>
                <a:srgbClr val="FFC85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6C1F39-E8F1-782C-2122-425418526517}"/>
              </a:ext>
            </a:extLst>
          </p:cNvPr>
          <p:cNvSpPr txBox="1"/>
          <p:nvPr/>
        </p:nvSpPr>
        <p:spPr>
          <a:xfrm>
            <a:off x="762000" y="20955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8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「製番転記」アプリで</a:t>
            </a:r>
          </a:p>
          <a:p>
            <a:r>
              <a:rPr kumimoji="1" lang="ja-JP" altLang="en-US" sz="38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納期回答取得の工数を削減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0A1E7E-0FDC-7D26-B08A-9F5670A7FA4D}"/>
              </a:ext>
            </a:extLst>
          </p:cNvPr>
          <p:cNvSpPr txBox="1"/>
          <p:nvPr/>
        </p:nvSpPr>
        <p:spPr>
          <a:xfrm>
            <a:off x="762000" y="39624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600">
                <a:solidFill>
                  <a:srgbClr val="EAE2F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注残リストへの「手配製番」「納期回答」「対象品番識別」の記入を自動化しました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375672-422D-7136-20F9-3E4C33ACF8E2}"/>
              </a:ext>
            </a:extLst>
          </p:cNvPr>
          <p:cNvSpPr txBox="1"/>
          <p:nvPr/>
        </p:nvSpPr>
        <p:spPr>
          <a:xfrm>
            <a:off x="762000" y="58420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300">
                <a:solidFill>
                  <a:srgbClr val="EAE2F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</a:t>
            </a:r>
            <a:r>
              <a:rPr kumimoji="1" lang="ja-JP" altLang="en-US" sz="1300">
                <a:solidFill>
                  <a:srgbClr val="EAE2F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kumimoji="1" lang="en-US" altLang="ja-JP" sz="1300">
                <a:solidFill>
                  <a:srgbClr val="EAE2F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</a:t>
            </a:r>
            <a:r>
              <a:rPr kumimoji="1" lang="ja-JP" altLang="en-US" sz="1300">
                <a:solidFill>
                  <a:srgbClr val="EAE2F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E2B2B3C3-814C-4E52-DE7B-A433A4E66D8B}"/>
              </a:ext>
            </a:extLst>
          </p:cNvPr>
          <p:cNvSpPr/>
          <p:nvPr/>
        </p:nvSpPr>
        <p:spPr>
          <a:xfrm>
            <a:off x="8382000" y="1905000"/>
            <a:ext cx="3048000" cy="3048000"/>
          </a:xfrm>
          <a:prstGeom prst="ellipse">
            <a:avLst/>
          </a:prstGeom>
          <a:solidFill>
            <a:srgbClr val="FFC8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kumimoji="1" lang="en-US" altLang="ja-JP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回あたり</a:t>
            </a:r>
          </a:p>
          <a:p>
            <a:pPr algn="ctr"/>
            <a:r>
              <a:rPr kumimoji="1" lang="en-US" altLang="ja-JP" sz="44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2h</a:t>
            </a:r>
            <a:r>
              <a:rPr kumimoji="1" lang="ja-JP" altLang="en-US" sz="44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以上</a:t>
            </a:r>
          </a:p>
          <a:p>
            <a:pPr algn="ctr"/>
            <a:r>
              <a:rPr kumimoji="1" lang="ja-JP" altLang="en-US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の工数削減</a:t>
            </a:r>
          </a:p>
        </p:txBody>
      </p:sp>
    </p:spTree>
    <p:extLst>
      <p:ext uri="{BB962C8B-B14F-4D97-AF65-F5344CB8AC3E}">
        <p14:creationId xmlns:p14="http://schemas.microsoft.com/office/powerpoint/2010/main" val="355118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F3A5BF1-9C51-5F40-4DF8-FDAE93BBA891}"/>
              </a:ext>
            </a:extLst>
          </p:cNvPr>
          <p:cNvSpPr txBox="1"/>
          <p:nvPr/>
        </p:nvSpPr>
        <p:spPr>
          <a:xfrm>
            <a:off x="457200" y="304800"/>
            <a:ext cx="1127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現状の流れと課題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AD2F5F-0CF0-622B-53EE-E911B9F236FA}"/>
              </a:ext>
            </a:extLst>
          </p:cNvPr>
          <p:cNvSpPr txBox="1"/>
          <p:nvPr/>
        </p:nvSpPr>
        <p:spPr>
          <a:xfrm>
            <a:off x="457200" y="812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3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注残リストの準備から納期回答の入力まで、多くを手作業で行っていました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5176B3-244F-82FD-175B-79509986E3CE}"/>
              </a:ext>
            </a:extLst>
          </p:cNvPr>
          <p:cNvSpPr txBox="1"/>
          <p:nvPr/>
        </p:nvSpPr>
        <p:spPr>
          <a:xfrm>
            <a:off x="457200" y="1244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400" b="1">
                <a:solidFill>
                  <a:srgbClr val="D9607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現状の流れ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075138A-6EAA-B2CE-FDC9-6561EE0052DB}"/>
              </a:ext>
            </a:extLst>
          </p:cNvPr>
          <p:cNvSpPr/>
          <p:nvPr/>
        </p:nvSpPr>
        <p:spPr>
          <a:xfrm>
            <a:off x="457200" y="1600200"/>
            <a:ext cx="1473200" cy="1320800"/>
          </a:xfrm>
          <a:prstGeom prst="roundRect">
            <a:avLst>
              <a:gd name="adj" fmla="val 8000"/>
            </a:avLst>
          </a:prstGeom>
          <a:solidFill>
            <a:srgbClr val="FAF6FC"/>
          </a:solidFill>
          <a:ln w="12700">
            <a:solidFill>
              <a:srgbClr val="D8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kumimoji="1" lang="en-US" altLang="ja-JP" sz="1100" b="1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</a:p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注残リスト</a:t>
            </a:r>
            <a:r>
              <a:rPr kumimoji="1" lang="en-US" altLang="ja-JP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DL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アマダサテライト</a:t>
            </a:r>
            <a:b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パークから</a:t>
            </a:r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2426C34B-4C0F-D556-A63F-3C26F97DFB6D}"/>
              </a:ext>
            </a:extLst>
          </p:cNvPr>
          <p:cNvSpPr/>
          <p:nvPr/>
        </p:nvSpPr>
        <p:spPr>
          <a:xfrm rot="5400000">
            <a:off x="1955800" y="2184400"/>
            <a:ext cx="114300" cy="152400"/>
          </a:xfrm>
          <a:prstGeom prst="triangle">
            <a:avLst/>
          </a:prstGeom>
          <a:solidFill>
            <a:srgbClr val="D8D0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5FFEBB9-7672-22EC-9BE1-C36DD92C5BF7}"/>
              </a:ext>
            </a:extLst>
          </p:cNvPr>
          <p:cNvSpPr/>
          <p:nvPr/>
        </p:nvSpPr>
        <p:spPr>
          <a:xfrm>
            <a:off x="2095500" y="1600200"/>
            <a:ext cx="1473200" cy="1320800"/>
          </a:xfrm>
          <a:prstGeom prst="roundRect">
            <a:avLst>
              <a:gd name="adj" fmla="val 8000"/>
            </a:avLst>
          </a:prstGeom>
          <a:solidFill>
            <a:srgbClr val="FDE7E9"/>
          </a:solidFill>
          <a:ln w="12700">
            <a:solidFill>
              <a:srgbClr val="E060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kumimoji="1" lang="en-US" altLang="ja-JP" sz="1100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</a:p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製番を紐づけ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単品日程表・</a:t>
            </a:r>
            <a:r>
              <a:rPr kumimoji="1" lang="en-US" altLang="ja-JP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sick</a:t>
            </a:r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日程表から</a:t>
            </a:r>
            <a:r>
              <a:rPr kumimoji="1" lang="en-US" altLang="ja-JP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VLOOKUP</a:t>
            </a:r>
            <a:endParaRPr kumimoji="1" lang="ja-JP" altLang="en-US" sz="1000">
              <a:solidFill>
                <a:srgbClr val="7A6F8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18AEC02A-15E3-4E6A-B51B-9D3AAAA5F1F6}"/>
              </a:ext>
            </a:extLst>
          </p:cNvPr>
          <p:cNvSpPr/>
          <p:nvPr/>
        </p:nvSpPr>
        <p:spPr>
          <a:xfrm rot="5400000">
            <a:off x="3594100" y="2184400"/>
            <a:ext cx="114300" cy="152400"/>
          </a:xfrm>
          <a:prstGeom prst="triangle">
            <a:avLst/>
          </a:prstGeom>
          <a:solidFill>
            <a:srgbClr val="D8D0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46A26E4-7AD1-7F36-C50F-DEBAFDF09E98}"/>
              </a:ext>
            </a:extLst>
          </p:cNvPr>
          <p:cNvSpPr/>
          <p:nvPr/>
        </p:nvSpPr>
        <p:spPr>
          <a:xfrm>
            <a:off x="3733800" y="1600200"/>
            <a:ext cx="1473200" cy="1320800"/>
          </a:xfrm>
          <a:prstGeom prst="roundRect">
            <a:avLst>
              <a:gd name="adj" fmla="val 8000"/>
            </a:avLst>
          </a:prstGeom>
          <a:solidFill>
            <a:srgbClr val="FDE7E9"/>
          </a:solidFill>
          <a:ln w="12700">
            <a:solidFill>
              <a:srgbClr val="E060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kumimoji="1" lang="en-US" altLang="ja-JP" sz="1100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対象外を識別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工場区分・</a:t>
            </a:r>
            <a:r>
              <a:rPr kumimoji="1" lang="en-US" altLang="ja-JP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JIT</a:t>
            </a:r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・指示区分変更依頼・目視</a:t>
            </a:r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63AA0363-B5FD-517C-374F-62D77C653C5C}"/>
              </a:ext>
            </a:extLst>
          </p:cNvPr>
          <p:cNvSpPr/>
          <p:nvPr/>
        </p:nvSpPr>
        <p:spPr>
          <a:xfrm rot="5400000">
            <a:off x="5232400" y="2184400"/>
            <a:ext cx="114300" cy="152400"/>
          </a:xfrm>
          <a:prstGeom prst="triangle">
            <a:avLst/>
          </a:prstGeom>
          <a:solidFill>
            <a:srgbClr val="D8D0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8F51BBC-5501-071E-3493-3DEDEA648744}"/>
              </a:ext>
            </a:extLst>
          </p:cNvPr>
          <p:cNvSpPr/>
          <p:nvPr/>
        </p:nvSpPr>
        <p:spPr>
          <a:xfrm>
            <a:off x="5372100" y="1600200"/>
            <a:ext cx="1473200" cy="1320800"/>
          </a:xfrm>
          <a:prstGeom prst="roundRect">
            <a:avLst>
              <a:gd name="adj" fmla="val 8000"/>
            </a:avLst>
          </a:prstGeom>
          <a:solidFill>
            <a:srgbClr val="FAF6FC"/>
          </a:solidFill>
          <a:ln w="12700">
            <a:solidFill>
              <a:srgbClr val="D8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kumimoji="1" lang="en-US" altLang="ja-JP" sz="1100" b="1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</a:p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空欄に「未手配」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整理したリストを生産管理へ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C3D7AFDE-AEB8-204B-45AF-95980BB072E2}"/>
              </a:ext>
            </a:extLst>
          </p:cNvPr>
          <p:cNvSpPr/>
          <p:nvPr/>
        </p:nvSpPr>
        <p:spPr>
          <a:xfrm rot="5400000">
            <a:off x="6870700" y="2184400"/>
            <a:ext cx="114300" cy="152400"/>
          </a:xfrm>
          <a:prstGeom prst="triangle">
            <a:avLst/>
          </a:prstGeom>
          <a:solidFill>
            <a:srgbClr val="D8D0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402AF851-F649-ECED-FDDA-6E92710652ED}"/>
              </a:ext>
            </a:extLst>
          </p:cNvPr>
          <p:cNvSpPr/>
          <p:nvPr/>
        </p:nvSpPr>
        <p:spPr>
          <a:xfrm>
            <a:off x="7010400" y="1600200"/>
            <a:ext cx="1473200" cy="1320800"/>
          </a:xfrm>
          <a:prstGeom prst="roundRect">
            <a:avLst>
              <a:gd name="adj" fmla="val 8000"/>
            </a:avLst>
          </a:prstGeom>
          <a:solidFill>
            <a:srgbClr val="FDE7E9"/>
          </a:solidFill>
          <a:ln w="12700">
            <a:solidFill>
              <a:srgbClr val="E060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kumimoji="1" lang="en-US" altLang="ja-JP" sz="1100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</a:p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生産管理が確認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手配状況・回答情報を見て資材へ依頼</a:t>
            </a:r>
          </a:p>
        </p:txBody>
      </p:sp>
      <p:sp>
        <p:nvSpPr>
          <p:cNvPr id="14" name="二等辺三角形 13">
            <a:extLst>
              <a:ext uri="{FF2B5EF4-FFF2-40B4-BE49-F238E27FC236}">
                <a16:creationId xmlns:a16="http://schemas.microsoft.com/office/drawing/2014/main" id="{7E2741A6-1973-1437-2E8F-E7A6BE01D0B0}"/>
              </a:ext>
            </a:extLst>
          </p:cNvPr>
          <p:cNvSpPr/>
          <p:nvPr/>
        </p:nvSpPr>
        <p:spPr>
          <a:xfrm rot="5400000">
            <a:off x="8509000" y="2184400"/>
            <a:ext cx="114300" cy="152400"/>
          </a:xfrm>
          <a:prstGeom prst="triangle">
            <a:avLst/>
          </a:prstGeom>
          <a:solidFill>
            <a:srgbClr val="D8D0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31823A92-10FC-A851-7BE4-EFC9322FCFB9}"/>
              </a:ext>
            </a:extLst>
          </p:cNvPr>
          <p:cNvSpPr/>
          <p:nvPr/>
        </p:nvSpPr>
        <p:spPr>
          <a:xfrm>
            <a:off x="8648700" y="1600200"/>
            <a:ext cx="1473200" cy="1320800"/>
          </a:xfrm>
          <a:prstGeom prst="roundRect">
            <a:avLst>
              <a:gd name="adj" fmla="val 8000"/>
            </a:avLst>
          </a:prstGeom>
          <a:solidFill>
            <a:srgbClr val="FDE7E9"/>
          </a:solidFill>
          <a:ln w="12700">
            <a:solidFill>
              <a:srgbClr val="E060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kumimoji="1" lang="en-US" altLang="ja-JP" sz="1100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</a:p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資材が業者へ依頼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製番ごとに発注先を確認して依頼</a:t>
            </a:r>
          </a:p>
        </p:txBody>
      </p: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FA2B41CD-41D7-5733-A67F-39DD0C01478A}"/>
              </a:ext>
            </a:extLst>
          </p:cNvPr>
          <p:cNvSpPr/>
          <p:nvPr/>
        </p:nvSpPr>
        <p:spPr>
          <a:xfrm rot="5400000">
            <a:off x="10147300" y="2184400"/>
            <a:ext cx="114300" cy="152400"/>
          </a:xfrm>
          <a:prstGeom prst="triangle">
            <a:avLst/>
          </a:prstGeom>
          <a:solidFill>
            <a:srgbClr val="D8D0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2E965C83-76CB-E184-3619-2962A66B46D5}"/>
              </a:ext>
            </a:extLst>
          </p:cNvPr>
          <p:cNvSpPr/>
          <p:nvPr/>
        </p:nvSpPr>
        <p:spPr>
          <a:xfrm>
            <a:off x="10287000" y="1600200"/>
            <a:ext cx="1473200" cy="1320800"/>
          </a:xfrm>
          <a:prstGeom prst="roundRect">
            <a:avLst>
              <a:gd name="adj" fmla="val 8000"/>
            </a:avLst>
          </a:prstGeom>
          <a:solidFill>
            <a:srgbClr val="FDE7E9"/>
          </a:solidFill>
          <a:ln w="12700">
            <a:solidFill>
              <a:srgbClr val="E060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kumimoji="1" lang="en-US" altLang="ja-JP" sz="1100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</a:p>
          <a:p>
            <a:pPr>
              <a:spcAft>
                <a:spcPts val="300"/>
              </a:spcAft>
            </a:pPr>
            <a:r>
              <a:rPr kumimoji="1" lang="en-US" altLang="ja-JP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か所に入力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注残リストとシステムに入力しアップロード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620C660-21B2-98B0-242C-D36A98D9278D}"/>
              </a:ext>
            </a:extLst>
          </p:cNvPr>
          <p:cNvSpPr/>
          <p:nvPr/>
        </p:nvSpPr>
        <p:spPr>
          <a:xfrm>
            <a:off x="9804400" y="1308100"/>
            <a:ext cx="279400" cy="177800"/>
          </a:xfrm>
          <a:prstGeom prst="roundRect">
            <a:avLst>
              <a:gd name="adj" fmla="val 14000"/>
            </a:avLst>
          </a:prstGeom>
          <a:solidFill>
            <a:srgbClr val="FDE7E9"/>
          </a:solidFill>
          <a:ln w="12700">
            <a:solidFill>
              <a:srgbClr val="E060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AAF4734-139B-E5C1-9090-6027FC7CEAC6}"/>
              </a:ext>
            </a:extLst>
          </p:cNvPr>
          <p:cNvSpPr txBox="1"/>
          <p:nvPr/>
        </p:nvSpPr>
        <p:spPr>
          <a:xfrm>
            <a:off x="10160000" y="1270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＝手作業が多い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9392920-6F0B-4615-F745-65F0CFB2F835}"/>
              </a:ext>
            </a:extLst>
          </p:cNvPr>
          <p:cNvSpPr txBox="1"/>
          <p:nvPr/>
        </p:nvSpPr>
        <p:spPr>
          <a:xfrm>
            <a:off x="457200" y="3276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400" b="1">
                <a:solidFill>
                  <a:srgbClr val="D9607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2A5AE8B2-EE5B-0220-2BBD-D23A3B28C56D}"/>
              </a:ext>
            </a:extLst>
          </p:cNvPr>
          <p:cNvSpPr/>
          <p:nvPr/>
        </p:nvSpPr>
        <p:spPr>
          <a:xfrm>
            <a:off x="457200" y="3581400"/>
            <a:ext cx="2113280" cy="248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644C5EE-0B0A-844B-8A51-EFFBED8A071B}"/>
              </a:ext>
            </a:extLst>
          </p:cNvPr>
          <p:cNvSpPr txBox="1"/>
          <p:nvPr/>
        </p:nvSpPr>
        <p:spPr>
          <a:xfrm>
            <a:off x="635000" y="37592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b="1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</a:t>
            </a:r>
            <a:r>
              <a:rPr kumimoji="1" lang="en-US" altLang="ja-JP" sz="1200" b="1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200" b="1">
              <a:solidFill>
                <a:srgbClr val="7A6F8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2496FF7-DE66-10D0-5669-B055DE150978}"/>
              </a:ext>
            </a:extLst>
          </p:cNvPr>
          <p:cNvSpPr txBox="1"/>
          <p:nvPr/>
        </p:nvSpPr>
        <p:spPr>
          <a:xfrm>
            <a:off x="635000" y="40386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en-US" altLang="ja-JP" sz="3600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1h</a:t>
            </a:r>
            <a:endParaRPr kumimoji="1" lang="ja-JP" altLang="en-US" sz="3600" b="1">
              <a:solidFill>
                <a:srgbClr val="E0606A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3A98EDA-1330-B7D0-421A-DDB009CECDCE}"/>
              </a:ext>
            </a:extLst>
          </p:cNvPr>
          <p:cNvSpPr txBox="1"/>
          <p:nvPr/>
        </p:nvSpPr>
        <p:spPr>
          <a:xfrm>
            <a:off x="635000" y="48006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400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納入指示番号と手配製番の紐づけに工数がかかる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69CD2CBA-4F91-7170-B0A7-3A6D566423B8}"/>
              </a:ext>
            </a:extLst>
          </p:cNvPr>
          <p:cNvSpPr/>
          <p:nvPr/>
        </p:nvSpPr>
        <p:spPr>
          <a:xfrm>
            <a:off x="2748280" y="3581400"/>
            <a:ext cx="2113280" cy="248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B789A7A-1190-0D02-F348-D621C2DE17C5}"/>
              </a:ext>
            </a:extLst>
          </p:cNvPr>
          <p:cNvSpPr txBox="1"/>
          <p:nvPr/>
        </p:nvSpPr>
        <p:spPr>
          <a:xfrm>
            <a:off x="2926080" y="37592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b="1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</a:t>
            </a:r>
            <a:r>
              <a:rPr kumimoji="1" lang="en-US" altLang="ja-JP" sz="1200" b="1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200" b="1">
              <a:solidFill>
                <a:srgbClr val="7A6F8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5380A8B-C9C0-DA24-448A-31F1FBDFFDCF}"/>
              </a:ext>
            </a:extLst>
          </p:cNvPr>
          <p:cNvSpPr txBox="1"/>
          <p:nvPr/>
        </p:nvSpPr>
        <p:spPr>
          <a:xfrm>
            <a:off x="2926080" y="40386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2400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手配ダブり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D2DF574-36E9-481D-AEED-F9521C57B3B4}"/>
              </a:ext>
            </a:extLst>
          </p:cNvPr>
          <p:cNvSpPr txBox="1"/>
          <p:nvPr/>
        </p:nvSpPr>
        <p:spPr>
          <a:xfrm>
            <a:off x="2926080" y="48006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400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単品日程表に無いものが「未手配」になり、手配がダブる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A5C9001E-0141-473F-CD24-ADCA262D07FA}"/>
              </a:ext>
            </a:extLst>
          </p:cNvPr>
          <p:cNvSpPr/>
          <p:nvPr/>
        </p:nvSpPr>
        <p:spPr>
          <a:xfrm>
            <a:off x="5039360" y="3581400"/>
            <a:ext cx="2113279" cy="248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DDE969C-8225-A8E0-D8CA-C1A8C75230AD}"/>
              </a:ext>
            </a:extLst>
          </p:cNvPr>
          <p:cNvSpPr txBox="1"/>
          <p:nvPr/>
        </p:nvSpPr>
        <p:spPr>
          <a:xfrm>
            <a:off x="5217160" y="37592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b="1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</a:t>
            </a:r>
            <a:r>
              <a:rPr kumimoji="1" lang="en-US" altLang="ja-JP" sz="1200" b="1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200" b="1">
              <a:solidFill>
                <a:srgbClr val="7A6F8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53D28E7-42DF-D5EA-50B1-83DD6481E6B3}"/>
              </a:ext>
            </a:extLst>
          </p:cNvPr>
          <p:cNvSpPr txBox="1"/>
          <p:nvPr/>
        </p:nvSpPr>
        <p:spPr>
          <a:xfrm>
            <a:off x="5217160" y="40386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en-US" altLang="ja-JP" sz="3600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1h</a:t>
            </a:r>
            <a:endParaRPr kumimoji="1" lang="ja-JP" altLang="en-US" sz="3600" b="1">
              <a:solidFill>
                <a:srgbClr val="E0606A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DD08D74-5178-65B1-C403-89669000CAB0}"/>
              </a:ext>
            </a:extLst>
          </p:cNvPr>
          <p:cNvSpPr txBox="1"/>
          <p:nvPr/>
        </p:nvSpPr>
        <p:spPr>
          <a:xfrm>
            <a:off x="5217160" y="48006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400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納期回答不要のもの（対象外）の識別に工数がかかる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618B79B5-EDAA-938A-004E-85F2AD173184}"/>
              </a:ext>
            </a:extLst>
          </p:cNvPr>
          <p:cNvSpPr/>
          <p:nvPr/>
        </p:nvSpPr>
        <p:spPr>
          <a:xfrm>
            <a:off x="7330440" y="3581400"/>
            <a:ext cx="2113280" cy="248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69F6164-F563-EECB-13E4-BDD2430F22B7}"/>
              </a:ext>
            </a:extLst>
          </p:cNvPr>
          <p:cNvSpPr txBox="1"/>
          <p:nvPr/>
        </p:nvSpPr>
        <p:spPr>
          <a:xfrm>
            <a:off x="7508240" y="37592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b="1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</a:t>
            </a:r>
            <a:r>
              <a:rPr kumimoji="1" lang="en-US" altLang="ja-JP" sz="1200" b="1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ja-JP" altLang="en-US" sz="1200" b="1">
              <a:solidFill>
                <a:srgbClr val="7A6F8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11B326B-955C-08EF-76C8-2B844DB82F4A}"/>
              </a:ext>
            </a:extLst>
          </p:cNvPr>
          <p:cNvSpPr txBox="1"/>
          <p:nvPr/>
        </p:nvSpPr>
        <p:spPr>
          <a:xfrm>
            <a:off x="7508240" y="40386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2400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　）</a:t>
            </a:r>
            <a:r>
              <a:rPr kumimoji="1" lang="en-US" altLang="ja-JP" sz="2400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</a:t>
            </a:r>
            <a:endParaRPr kumimoji="1" lang="ja-JP" altLang="en-US" sz="2400" b="1">
              <a:solidFill>
                <a:srgbClr val="E0606A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DE61D2D-2CF6-3707-4CF1-D18DF6468B54}"/>
              </a:ext>
            </a:extLst>
          </p:cNvPr>
          <p:cNvSpPr txBox="1"/>
          <p:nvPr/>
        </p:nvSpPr>
        <p:spPr>
          <a:xfrm>
            <a:off x="7508240" y="48006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400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手配製番ごとの納期回答取得状況の確認に工数がかかる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3946881E-78AB-83BB-2895-6D3E741D483D}"/>
              </a:ext>
            </a:extLst>
          </p:cNvPr>
          <p:cNvSpPr/>
          <p:nvPr/>
        </p:nvSpPr>
        <p:spPr>
          <a:xfrm>
            <a:off x="9621520" y="3581400"/>
            <a:ext cx="2113280" cy="248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0DFDFCC-0FAB-257D-DE15-DFA807D05963}"/>
              </a:ext>
            </a:extLst>
          </p:cNvPr>
          <p:cNvSpPr txBox="1"/>
          <p:nvPr/>
        </p:nvSpPr>
        <p:spPr>
          <a:xfrm>
            <a:off x="9799320" y="37592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b="1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</a:t>
            </a:r>
            <a:r>
              <a:rPr kumimoji="1" lang="en-US" altLang="ja-JP" sz="1200" b="1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endParaRPr kumimoji="1" lang="ja-JP" altLang="en-US" sz="1200" b="1">
              <a:solidFill>
                <a:srgbClr val="7A6F8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22A47D60-82E1-D6FB-E8FF-8513398FF260}"/>
              </a:ext>
            </a:extLst>
          </p:cNvPr>
          <p:cNvSpPr txBox="1"/>
          <p:nvPr/>
        </p:nvSpPr>
        <p:spPr>
          <a:xfrm>
            <a:off x="9799320" y="40386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2400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　）</a:t>
            </a:r>
            <a:r>
              <a:rPr kumimoji="1" lang="en-US" altLang="ja-JP" sz="2400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</a:t>
            </a:r>
            <a:endParaRPr kumimoji="1" lang="ja-JP" altLang="en-US" sz="2400" b="1">
              <a:solidFill>
                <a:srgbClr val="E0606A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CE338B0-1D1B-E524-C817-28A7FB6E8785}"/>
              </a:ext>
            </a:extLst>
          </p:cNvPr>
          <p:cNvSpPr txBox="1"/>
          <p:nvPr/>
        </p:nvSpPr>
        <p:spPr>
          <a:xfrm>
            <a:off x="9799320" y="4800600"/>
            <a:ext cx="17576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400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依頼を受けた製番の発注先業者を</a:t>
            </a:r>
            <a:r>
              <a:rPr kumimoji="1" lang="en-US" altLang="ja-JP" sz="1400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400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件ずつ確認する手間</a:t>
            </a:r>
          </a:p>
        </p:txBody>
      </p:sp>
    </p:spTree>
    <p:extLst>
      <p:ext uri="{BB962C8B-B14F-4D97-AF65-F5344CB8AC3E}">
        <p14:creationId xmlns:p14="http://schemas.microsoft.com/office/powerpoint/2010/main" val="1433153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A34BBD-5087-364F-8296-7DFEB33C1B4F}"/>
              </a:ext>
            </a:extLst>
          </p:cNvPr>
          <p:cNvSpPr txBox="1"/>
          <p:nvPr/>
        </p:nvSpPr>
        <p:spPr>
          <a:xfrm>
            <a:off x="457200" y="304800"/>
            <a:ext cx="1127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工数削減の効果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CB2213A-DF8B-7060-8AE5-4C670339619B}"/>
              </a:ext>
            </a:extLst>
          </p:cNvPr>
          <p:cNvSpPr txBox="1"/>
          <p:nvPr/>
        </p:nvSpPr>
        <p:spPr>
          <a:xfrm>
            <a:off x="457200" y="812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3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手作業だった紐づけ・識別・確認を「製番転記」アプリに置き換えました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738471D-E6B5-8BB7-5D53-4D9DB60A1A27}"/>
              </a:ext>
            </a:extLst>
          </p:cNvPr>
          <p:cNvSpPr/>
          <p:nvPr/>
        </p:nvSpPr>
        <p:spPr>
          <a:xfrm>
            <a:off x="457200" y="1270000"/>
            <a:ext cx="3429000" cy="5054600"/>
          </a:xfrm>
          <a:prstGeom prst="roundRect">
            <a:avLst>
              <a:gd name="adj" fmla="val 14000"/>
            </a:avLst>
          </a:prstGeom>
          <a:solidFill>
            <a:srgbClr val="5E4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78FCAB-06F8-5667-6A08-FFEE1EE36999}"/>
              </a:ext>
            </a:extLst>
          </p:cNvPr>
          <p:cNvSpPr txBox="1"/>
          <p:nvPr/>
        </p:nvSpPr>
        <p:spPr>
          <a:xfrm>
            <a:off x="736600" y="15494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500" b="1">
                <a:solidFill>
                  <a:srgbClr val="EAE2F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500" b="1">
                <a:solidFill>
                  <a:srgbClr val="EAE2F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回あたりの削減工数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497B0B-454C-1D83-029C-9F254735D679}"/>
              </a:ext>
            </a:extLst>
          </p:cNvPr>
          <p:cNvSpPr txBox="1"/>
          <p:nvPr/>
        </p:nvSpPr>
        <p:spPr>
          <a:xfrm>
            <a:off x="736600" y="19050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5600" b="1">
                <a:solidFill>
                  <a:srgbClr val="FFC85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2h</a:t>
            </a:r>
            <a:r>
              <a:rPr kumimoji="1" lang="ja-JP" altLang="en-US" sz="24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＋（　）</a:t>
            </a:r>
            <a:r>
              <a:rPr kumimoji="1" lang="en-US" altLang="ja-JP" sz="24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</a:t>
            </a:r>
            <a:endParaRPr kumimoji="1" lang="ja-JP" altLang="en-US" sz="24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2831CF5-F2C6-7436-6F81-9344D69765E7}"/>
              </a:ext>
            </a:extLst>
          </p:cNvPr>
          <p:cNvSpPr txBox="1"/>
          <p:nvPr/>
        </p:nvSpPr>
        <p:spPr>
          <a:xfrm>
            <a:off x="736600" y="28956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3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紐づけ </a:t>
            </a:r>
            <a:r>
              <a:rPr kumimoji="1" lang="en-US" altLang="ja-JP" sz="13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1h </a:t>
            </a:r>
            <a:r>
              <a:rPr kumimoji="1" lang="ja-JP" altLang="en-US" sz="13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と対象外の識別 </a:t>
            </a:r>
            <a:r>
              <a:rPr kumimoji="1" lang="en-US" altLang="ja-JP" sz="13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1h </a:t>
            </a:r>
            <a:r>
              <a:rPr kumimoji="1" lang="ja-JP" altLang="en-US" sz="13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はアプリで自動に。さらに取得状況・業者の確認と、納期回答の二重入力の時間も減ります。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9DDC6CF-AC3B-7079-E3B2-C9296638D191}"/>
              </a:ext>
            </a:extLst>
          </p:cNvPr>
          <p:cNvSpPr txBox="1"/>
          <p:nvPr/>
        </p:nvSpPr>
        <p:spPr>
          <a:xfrm>
            <a:off x="736600" y="40386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kumimoji="1" lang="ja-JP" altLang="en-US" sz="1200">
                <a:solidFill>
                  <a:srgbClr val="EAE2F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さらに</a:t>
            </a:r>
          </a:p>
          <a:p>
            <a:r>
              <a:rPr kumimoji="1" lang="ja-JP" altLang="en-US" sz="16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手配のダブりを防げます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CE858F4-5A0A-206B-1DCF-463DCEA86622}"/>
              </a:ext>
            </a:extLst>
          </p:cNvPr>
          <p:cNvSpPr/>
          <p:nvPr/>
        </p:nvSpPr>
        <p:spPr>
          <a:xfrm>
            <a:off x="711200" y="4851400"/>
            <a:ext cx="2921000" cy="1219200"/>
          </a:xfrm>
          <a:prstGeom prst="roundRect">
            <a:avLst>
              <a:gd name="adj" fmla="val 14000"/>
            </a:avLst>
          </a:prstGeom>
          <a:solidFill>
            <a:srgbClr val="D960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52400" rIns="152400" bIns="152400" rtlCol="0" anchor="ctr"/>
          <a:lstStyle/>
          <a:p>
            <a:pPr>
              <a:spcAft>
                <a:spcPts val="400"/>
              </a:spcAft>
            </a:pPr>
            <a:r>
              <a:rPr kumimoji="1" lang="ja-JP" altLang="en-US" sz="1300">
                <a:solidFill>
                  <a:srgbClr val="EAE2F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実施回数　月（　）回</a:t>
            </a:r>
          </a:p>
          <a:p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年間 約（　）</a:t>
            </a: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 </a:t>
            </a:r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の削減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2D618BD-777B-C0E6-91B5-409BE6B58584}"/>
              </a:ext>
            </a:extLst>
          </p:cNvPr>
          <p:cNvSpPr/>
          <p:nvPr/>
        </p:nvSpPr>
        <p:spPr>
          <a:xfrm>
            <a:off x="4140200" y="1270000"/>
            <a:ext cx="3022600" cy="431800"/>
          </a:xfrm>
          <a:prstGeom prst="rect">
            <a:avLst/>
          </a:prstGeom>
          <a:solidFill>
            <a:srgbClr val="5E4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作業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E90C773-7BED-684D-8E2E-FDF9858A736A}"/>
              </a:ext>
            </a:extLst>
          </p:cNvPr>
          <p:cNvSpPr/>
          <p:nvPr/>
        </p:nvSpPr>
        <p:spPr>
          <a:xfrm>
            <a:off x="7162800" y="1270000"/>
            <a:ext cx="2159000" cy="431800"/>
          </a:xfrm>
          <a:prstGeom prst="rect">
            <a:avLst/>
          </a:prstGeom>
          <a:solidFill>
            <a:srgbClr val="E060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改善前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A33C412-CE99-3193-7953-3F9B590CA7D5}"/>
              </a:ext>
            </a:extLst>
          </p:cNvPr>
          <p:cNvSpPr/>
          <p:nvPr/>
        </p:nvSpPr>
        <p:spPr>
          <a:xfrm>
            <a:off x="9321800" y="1270000"/>
            <a:ext cx="2413000" cy="431800"/>
          </a:xfrm>
          <a:prstGeom prst="rect">
            <a:avLst/>
          </a:prstGeom>
          <a:solidFill>
            <a:srgbClr val="2E9A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改善後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6122661-5672-4A35-27D8-07B77271D1BD}"/>
              </a:ext>
            </a:extLst>
          </p:cNvPr>
          <p:cNvSpPr/>
          <p:nvPr/>
        </p:nvSpPr>
        <p:spPr>
          <a:xfrm>
            <a:off x="4140200" y="1701800"/>
            <a:ext cx="3022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>
            <a:noAutofit/>
          </a:bodyPr>
          <a:lstStyle/>
          <a:p>
            <a:r>
              <a:rPr kumimoji="1" lang="ja-JP" altLang="en-US" sz="14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納入指示番号と手配製番の紐づけ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166E3F9-5EC4-3E1E-CD1F-31ED8CCB53F9}"/>
              </a:ext>
            </a:extLst>
          </p:cNvPr>
          <p:cNvSpPr/>
          <p:nvPr/>
        </p:nvSpPr>
        <p:spPr>
          <a:xfrm>
            <a:off x="7162800" y="1701800"/>
            <a:ext cx="215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kumimoji="1" lang="en-US" altLang="ja-JP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1h</a:t>
            </a:r>
          </a:p>
          <a:p>
            <a:pPr algn="ctr"/>
            <a:r>
              <a:rPr kumimoji="1" lang="en-US" altLang="ja-JP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VLOOKUP</a:t>
            </a:r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で手作業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044225A-251A-DE8A-C044-71421F73AF42}"/>
              </a:ext>
            </a:extLst>
          </p:cNvPr>
          <p:cNvSpPr/>
          <p:nvPr/>
        </p:nvSpPr>
        <p:spPr>
          <a:xfrm>
            <a:off x="9321800" y="1701800"/>
            <a:ext cx="2413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kumimoji="1" lang="ja-JP" altLang="en-US" b="1">
                <a:solidFill>
                  <a:srgbClr val="2E9A7E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自動</a:t>
            </a:r>
          </a:p>
          <a:p>
            <a:pPr algn="ctr"/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アプリが製番台帳から記入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1198BD4-A722-41EB-2463-085F72BFACCC}"/>
              </a:ext>
            </a:extLst>
          </p:cNvPr>
          <p:cNvSpPr/>
          <p:nvPr/>
        </p:nvSpPr>
        <p:spPr>
          <a:xfrm>
            <a:off x="4140200" y="2616200"/>
            <a:ext cx="3022600" cy="914400"/>
          </a:xfrm>
          <a:prstGeom prst="rect">
            <a:avLst/>
          </a:prstGeom>
          <a:solidFill>
            <a:srgbClr val="FAF6FC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>
            <a:noAutofit/>
          </a:bodyPr>
          <a:lstStyle/>
          <a:p>
            <a:r>
              <a:rPr kumimoji="1" lang="ja-JP" altLang="en-US" sz="14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納期回答不要（対象外）の識別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3F71BC5-E7F3-272A-80B7-C0C2CF433CD3}"/>
              </a:ext>
            </a:extLst>
          </p:cNvPr>
          <p:cNvSpPr/>
          <p:nvPr/>
        </p:nvSpPr>
        <p:spPr>
          <a:xfrm>
            <a:off x="7162800" y="2616200"/>
            <a:ext cx="2159000" cy="914400"/>
          </a:xfrm>
          <a:prstGeom prst="rect">
            <a:avLst/>
          </a:prstGeom>
          <a:solidFill>
            <a:srgbClr val="FAF6FC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kumimoji="1" lang="en-US" altLang="ja-JP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1h</a:t>
            </a:r>
          </a:p>
          <a:p>
            <a:pPr algn="ctr"/>
            <a:r>
              <a:rPr kumimoji="1" lang="en-US" altLang="ja-JP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VLOOKUP</a:t>
            </a:r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＋目視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4F92A1F-7ADE-A613-3B03-DF6BBED20677}"/>
              </a:ext>
            </a:extLst>
          </p:cNvPr>
          <p:cNvSpPr/>
          <p:nvPr/>
        </p:nvSpPr>
        <p:spPr>
          <a:xfrm>
            <a:off x="9321800" y="2616200"/>
            <a:ext cx="2413000" cy="914400"/>
          </a:xfrm>
          <a:prstGeom prst="rect">
            <a:avLst/>
          </a:prstGeom>
          <a:solidFill>
            <a:srgbClr val="FAF6FC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kumimoji="1" lang="ja-JP" altLang="en-US" b="1">
                <a:solidFill>
                  <a:srgbClr val="2E9A7E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自動</a:t>
            </a:r>
          </a:p>
          <a:p>
            <a:pPr algn="ctr"/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アプリが「対象外」を記入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C093876-6CF5-94BE-74B4-CD3C838EFECE}"/>
              </a:ext>
            </a:extLst>
          </p:cNvPr>
          <p:cNvSpPr/>
          <p:nvPr/>
        </p:nvSpPr>
        <p:spPr>
          <a:xfrm>
            <a:off x="4140200" y="3530600"/>
            <a:ext cx="3022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>
            <a:noAutofit/>
          </a:bodyPr>
          <a:lstStyle/>
          <a:p>
            <a:r>
              <a:rPr kumimoji="1" lang="ja-JP" altLang="en-US" sz="14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納期回答の取得状況の確認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0C9E508-BDCC-E213-8271-82EB6D03F4EC}"/>
              </a:ext>
            </a:extLst>
          </p:cNvPr>
          <p:cNvSpPr/>
          <p:nvPr/>
        </p:nvSpPr>
        <p:spPr>
          <a:xfrm>
            <a:off x="7162800" y="3530600"/>
            <a:ext cx="215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kumimoji="1" lang="ja-JP" altLang="en-US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　）</a:t>
            </a:r>
            <a:r>
              <a:rPr kumimoji="1" lang="en-US" altLang="ja-JP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</a:t>
            </a:r>
          </a:p>
          <a:p>
            <a:pPr algn="ctr"/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生産管理システムで確認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7A4881-4990-E31B-4E88-019FEAC6847D}"/>
              </a:ext>
            </a:extLst>
          </p:cNvPr>
          <p:cNvSpPr/>
          <p:nvPr/>
        </p:nvSpPr>
        <p:spPr>
          <a:xfrm>
            <a:off x="9321800" y="3530600"/>
            <a:ext cx="2413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kumimoji="1" lang="ja-JP" altLang="en-US" b="1">
                <a:solidFill>
                  <a:srgbClr val="2E9A7E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自動</a:t>
            </a:r>
          </a:p>
          <a:p>
            <a:pPr algn="ctr"/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発注仕入状況一覧表から記入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5333742-7F22-51A5-7949-09808A1248EB}"/>
              </a:ext>
            </a:extLst>
          </p:cNvPr>
          <p:cNvSpPr/>
          <p:nvPr/>
        </p:nvSpPr>
        <p:spPr>
          <a:xfrm>
            <a:off x="4140200" y="4445000"/>
            <a:ext cx="3022600" cy="914400"/>
          </a:xfrm>
          <a:prstGeom prst="rect">
            <a:avLst/>
          </a:prstGeom>
          <a:solidFill>
            <a:srgbClr val="FAF6FC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>
            <a:noAutofit/>
          </a:bodyPr>
          <a:lstStyle/>
          <a:p>
            <a:r>
              <a:rPr kumimoji="1" lang="ja-JP" altLang="en-US" sz="14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発注先業者の確認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654FEC1-7082-FB7F-D6FB-BD6F83EF8D6F}"/>
              </a:ext>
            </a:extLst>
          </p:cNvPr>
          <p:cNvSpPr/>
          <p:nvPr/>
        </p:nvSpPr>
        <p:spPr>
          <a:xfrm>
            <a:off x="7162800" y="4445000"/>
            <a:ext cx="2159000" cy="914400"/>
          </a:xfrm>
          <a:prstGeom prst="rect">
            <a:avLst/>
          </a:prstGeom>
          <a:solidFill>
            <a:srgbClr val="FAF6FC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kumimoji="1" lang="ja-JP" altLang="en-US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　）</a:t>
            </a:r>
            <a:r>
              <a:rPr kumimoji="1" lang="en-US" altLang="ja-JP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</a:t>
            </a:r>
          </a:p>
          <a:p>
            <a:pPr algn="ctr"/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製番を</a:t>
            </a:r>
            <a:r>
              <a:rPr kumimoji="1" lang="en-US" altLang="ja-JP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件ずつ確認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752416D-2CA3-1A7B-9AB9-B4656EE7893A}"/>
              </a:ext>
            </a:extLst>
          </p:cNvPr>
          <p:cNvSpPr/>
          <p:nvPr/>
        </p:nvSpPr>
        <p:spPr>
          <a:xfrm>
            <a:off x="9321800" y="4445000"/>
            <a:ext cx="2413000" cy="914400"/>
          </a:xfrm>
          <a:prstGeom prst="rect">
            <a:avLst/>
          </a:prstGeom>
          <a:solidFill>
            <a:srgbClr val="FAF6FC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kumimoji="1" lang="ja-JP" altLang="en-US" b="1">
                <a:solidFill>
                  <a:srgbClr val="2E9A7E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一覧で確認</a:t>
            </a:r>
          </a:p>
          <a:p>
            <a:pPr algn="ctr"/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発注明細シートで確認できる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1BB7C79-5EB6-B135-46EA-088596F063EF}"/>
              </a:ext>
            </a:extLst>
          </p:cNvPr>
          <p:cNvSpPr/>
          <p:nvPr/>
        </p:nvSpPr>
        <p:spPr>
          <a:xfrm>
            <a:off x="4140200" y="5359400"/>
            <a:ext cx="3022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ctr">
            <a:noAutofit/>
          </a:bodyPr>
          <a:lstStyle/>
          <a:p>
            <a:r>
              <a:rPr kumimoji="1" lang="ja-JP" altLang="en-US" sz="14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納期回答の入力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7BB0620-9674-498D-0BFB-6D41BE4E320C}"/>
              </a:ext>
            </a:extLst>
          </p:cNvPr>
          <p:cNvSpPr/>
          <p:nvPr/>
        </p:nvSpPr>
        <p:spPr>
          <a:xfrm>
            <a:off x="7162800" y="5359400"/>
            <a:ext cx="215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kumimoji="1" lang="ja-JP" altLang="en-US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　）</a:t>
            </a:r>
            <a:r>
              <a:rPr kumimoji="1" lang="en-US" altLang="ja-JP" b="1">
                <a:solidFill>
                  <a:srgbClr val="E0606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</a:t>
            </a:r>
          </a:p>
          <a:p>
            <a:pPr algn="ctr"/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注残リストとシステムの</a:t>
            </a:r>
            <a:r>
              <a:rPr kumimoji="1" lang="en-US" altLang="ja-JP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か所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C738279-0F64-6618-2AE9-32BFF61E8FF7}"/>
              </a:ext>
            </a:extLst>
          </p:cNvPr>
          <p:cNvSpPr/>
          <p:nvPr/>
        </p:nvSpPr>
        <p:spPr>
          <a:xfrm>
            <a:off x="9321800" y="5359400"/>
            <a:ext cx="2413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kumimoji="1" lang="ja-JP" altLang="en-US" b="1">
                <a:solidFill>
                  <a:srgbClr val="2E9A7E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システムのみ</a:t>
            </a:r>
          </a:p>
          <a:p>
            <a:pPr algn="ctr"/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注残リストへはアプリが反映</a:t>
            </a:r>
          </a:p>
        </p:txBody>
      </p:sp>
    </p:spTree>
    <p:extLst>
      <p:ext uri="{BB962C8B-B14F-4D97-AF65-F5344CB8AC3E}">
        <p14:creationId xmlns:p14="http://schemas.microsoft.com/office/powerpoint/2010/main" val="48120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AC7E58-D1D8-620C-D621-904B514DA89E}"/>
              </a:ext>
            </a:extLst>
          </p:cNvPr>
          <p:cNvSpPr txBox="1"/>
          <p:nvPr/>
        </p:nvSpPr>
        <p:spPr>
          <a:xfrm>
            <a:off x="457200" y="304800"/>
            <a:ext cx="1127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改善のポイント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95FFDA-B781-803A-E877-60181544A10A}"/>
              </a:ext>
            </a:extLst>
          </p:cNvPr>
          <p:cNvSpPr txBox="1"/>
          <p:nvPr/>
        </p:nvSpPr>
        <p:spPr>
          <a:xfrm>
            <a:off x="457200" y="812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3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アプリに取り込むだけで、注残リストの整理が終わります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6DC6058-F448-1DBC-D6D9-5C3157CAD6D3}"/>
              </a:ext>
            </a:extLst>
          </p:cNvPr>
          <p:cNvSpPr/>
          <p:nvPr/>
        </p:nvSpPr>
        <p:spPr>
          <a:xfrm>
            <a:off x="457200" y="1371600"/>
            <a:ext cx="5562600" cy="2235200"/>
          </a:xfrm>
          <a:prstGeom prst="roundRect">
            <a:avLst>
              <a:gd name="adj" fmla="val 14000"/>
            </a:avLst>
          </a:prstGeom>
          <a:solidFill>
            <a:srgbClr val="FDE8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34674E4A-FA24-5685-4F6B-6B7B2ACDBDFD}"/>
              </a:ext>
            </a:extLst>
          </p:cNvPr>
          <p:cNvSpPr/>
          <p:nvPr/>
        </p:nvSpPr>
        <p:spPr>
          <a:xfrm>
            <a:off x="736600" y="1651000"/>
            <a:ext cx="584200" cy="584200"/>
          </a:xfrm>
          <a:prstGeom prst="ellipse">
            <a:avLst/>
          </a:prstGeom>
          <a:solidFill>
            <a:srgbClr val="D960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193E2B5-A866-9535-533C-D77FA903C49A}"/>
              </a:ext>
            </a:extLst>
          </p:cNvPr>
          <p:cNvSpPr txBox="1"/>
          <p:nvPr/>
        </p:nvSpPr>
        <p:spPr>
          <a:xfrm>
            <a:off x="1549400" y="16510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20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現状の作業</a:t>
            </a:r>
            <a:r>
              <a:rPr kumimoji="1" lang="en-US" altLang="ja-JP" sz="20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1〜7</a:t>
            </a:r>
            <a:r>
              <a:rPr kumimoji="1" lang="ja-JP" altLang="en-US" sz="20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をアプリで一気に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5FB4833-20FE-0B06-0187-E01F1C1D6CDD}"/>
              </a:ext>
            </a:extLst>
          </p:cNvPr>
          <p:cNvSpPr txBox="1"/>
          <p:nvPr/>
        </p:nvSpPr>
        <p:spPr>
          <a:xfrm>
            <a:off x="1549400" y="2362200"/>
            <a:ext cx="421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kumimoji="1" lang="ja-JP" altLang="en-US" sz="1500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紐づけ・対象外の識別・「未手配」の記入・納期回答の確認までを、「製番転記」アプリでまとめて行います。</a:t>
            </a:r>
          </a:p>
          <a:p>
            <a:r>
              <a:rPr kumimoji="1" lang="ja-JP" altLang="en-US" sz="1500" b="1">
                <a:solidFill>
                  <a:srgbClr val="EC8A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工数削減（　）</a:t>
            </a:r>
            <a:r>
              <a:rPr kumimoji="1" lang="en-US" altLang="ja-JP" sz="1500" b="1">
                <a:solidFill>
                  <a:srgbClr val="EC8A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</a:t>
            </a:r>
            <a:endParaRPr kumimoji="1" lang="ja-JP" altLang="en-US" sz="1500" b="1">
              <a:solidFill>
                <a:srgbClr val="EC8A4A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1EA1F02-305F-68E8-5B18-A5CDFBCAC5C2}"/>
              </a:ext>
            </a:extLst>
          </p:cNvPr>
          <p:cNvSpPr/>
          <p:nvPr/>
        </p:nvSpPr>
        <p:spPr>
          <a:xfrm>
            <a:off x="6172200" y="1371600"/>
            <a:ext cx="5562600" cy="2235200"/>
          </a:xfrm>
          <a:prstGeom prst="roundRect">
            <a:avLst>
              <a:gd name="adj" fmla="val 14000"/>
            </a:avLst>
          </a:prstGeom>
          <a:solidFill>
            <a:srgbClr val="FDE8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AC14FD4C-4E12-AC45-ABBB-B8F7A63A5050}"/>
              </a:ext>
            </a:extLst>
          </p:cNvPr>
          <p:cNvSpPr/>
          <p:nvPr/>
        </p:nvSpPr>
        <p:spPr>
          <a:xfrm>
            <a:off x="6451600" y="1651000"/>
            <a:ext cx="584200" cy="584200"/>
          </a:xfrm>
          <a:prstGeom prst="ellipse">
            <a:avLst/>
          </a:prstGeom>
          <a:solidFill>
            <a:srgbClr val="D960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3230CCA-998A-D5FF-2DFA-1158073F37B9}"/>
              </a:ext>
            </a:extLst>
          </p:cNvPr>
          <p:cNvSpPr txBox="1"/>
          <p:nvPr/>
        </p:nvSpPr>
        <p:spPr>
          <a:xfrm>
            <a:off x="7264400" y="16510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20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手配がダブらない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F10DCA8-FF31-B52B-A6EE-398715BAD132}"/>
              </a:ext>
            </a:extLst>
          </p:cNvPr>
          <p:cNvSpPr txBox="1"/>
          <p:nvPr/>
        </p:nvSpPr>
        <p:spPr>
          <a:xfrm>
            <a:off x="7264400" y="2362200"/>
            <a:ext cx="421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kumimoji="1" lang="ja-JP" altLang="en-US" sz="1500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手配状況を製番台帳から確認するので、単品日程表に無いだけで「未手配」と扱うことがなくなります。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C7917009-6FD9-B589-AAA9-BFD2400606C8}"/>
              </a:ext>
            </a:extLst>
          </p:cNvPr>
          <p:cNvSpPr/>
          <p:nvPr/>
        </p:nvSpPr>
        <p:spPr>
          <a:xfrm>
            <a:off x="457200" y="3810000"/>
            <a:ext cx="5562600" cy="2235200"/>
          </a:xfrm>
          <a:prstGeom prst="roundRect">
            <a:avLst>
              <a:gd name="adj" fmla="val 14000"/>
            </a:avLst>
          </a:prstGeom>
          <a:solidFill>
            <a:srgbClr val="FDE8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4F88F3FD-BC2E-B24F-A1AD-8C595F1FC6D8}"/>
              </a:ext>
            </a:extLst>
          </p:cNvPr>
          <p:cNvSpPr/>
          <p:nvPr/>
        </p:nvSpPr>
        <p:spPr>
          <a:xfrm>
            <a:off x="736600" y="4089400"/>
            <a:ext cx="584200" cy="584200"/>
          </a:xfrm>
          <a:prstGeom prst="ellipse">
            <a:avLst/>
          </a:prstGeom>
          <a:solidFill>
            <a:srgbClr val="D960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F3231E6-2786-7F0C-2403-B050E2BBE197}"/>
              </a:ext>
            </a:extLst>
          </p:cNvPr>
          <p:cNvSpPr txBox="1"/>
          <p:nvPr/>
        </p:nvSpPr>
        <p:spPr>
          <a:xfrm>
            <a:off x="1549400" y="40894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20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業者への依頼資料づくりが楽に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279A36A-6DE2-96E7-907B-AD649E4EAEF4}"/>
              </a:ext>
            </a:extLst>
          </p:cNvPr>
          <p:cNvSpPr txBox="1"/>
          <p:nvPr/>
        </p:nvSpPr>
        <p:spPr>
          <a:xfrm>
            <a:off x="1549400" y="4800600"/>
            <a:ext cx="421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kumimoji="1" lang="ja-JP" altLang="en-US" sz="1500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発注明細シートを見れば、回答納期が空欄になっている業者がすぐにわかります。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174114DF-C541-AE69-2AAC-F8497B875192}"/>
              </a:ext>
            </a:extLst>
          </p:cNvPr>
          <p:cNvSpPr/>
          <p:nvPr/>
        </p:nvSpPr>
        <p:spPr>
          <a:xfrm>
            <a:off x="6172200" y="3810000"/>
            <a:ext cx="5562600" cy="2235200"/>
          </a:xfrm>
          <a:prstGeom prst="roundRect">
            <a:avLst>
              <a:gd name="adj" fmla="val 14000"/>
            </a:avLst>
          </a:prstGeom>
          <a:solidFill>
            <a:srgbClr val="FDE8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E1B8DCEA-3734-3E28-2141-64450A698297}"/>
              </a:ext>
            </a:extLst>
          </p:cNvPr>
          <p:cNvSpPr/>
          <p:nvPr/>
        </p:nvSpPr>
        <p:spPr>
          <a:xfrm>
            <a:off x="6451600" y="4089400"/>
            <a:ext cx="584200" cy="584200"/>
          </a:xfrm>
          <a:prstGeom prst="ellipse">
            <a:avLst/>
          </a:prstGeom>
          <a:solidFill>
            <a:srgbClr val="D960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ja-JP" altLang="en-US" sz="22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C9BF6EF-1E92-B493-359B-6FB9749F09BD}"/>
              </a:ext>
            </a:extLst>
          </p:cNvPr>
          <p:cNvSpPr txBox="1"/>
          <p:nvPr/>
        </p:nvSpPr>
        <p:spPr>
          <a:xfrm>
            <a:off x="7264400" y="40894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20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納期回答の入力は</a:t>
            </a:r>
            <a:r>
              <a:rPr kumimoji="1" lang="en-US" altLang="ja-JP" sz="20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20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回だけ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628B0AE-092A-D17C-2049-180A34D75CEA}"/>
              </a:ext>
            </a:extLst>
          </p:cNvPr>
          <p:cNvSpPr txBox="1"/>
          <p:nvPr/>
        </p:nvSpPr>
        <p:spPr>
          <a:xfrm>
            <a:off x="7264400" y="4800600"/>
            <a:ext cx="421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kumimoji="1" lang="ja-JP" altLang="en-US" sz="1500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注残リストと生産管理システムの両方に入れていた納期回答が、生産管理システムへの入力だけで済みます。</a:t>
            </a:r>
          </a:p>
          <a:p>
            <a:r>
              <a:rPr kumimoji="1" lang="ja-JP" altLang="en-US" sz="1500" b="1">
                <a:solidFill>
                  <a:srgbClr val="EC8A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工数削減（　）</a:t>
            </a:r>
            <a:r>
              <a:rPr kumimoji="1" lang="en-US" altLang="ja-JP" sz="1500" b="1">
                <a:solidFill>
                  <a:srgbClr val="EC8A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</a:t>
            </a:r>
            <a:endParaRPr kumimoji="1" lang="ja-JP" altLang="en-US" sz="1500" b="1">
              <a:solidFill>
                <a:srgbClr val="EC8A4A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7463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E5B64F8-F811-65FF-C0FF-26D88F89170D}"/>
              </a:ext>
            </a:extLst>
          </p:cNvPr>
          <p:cNvSpPr txBox="1"/>
          <p:nvPr/>
        </p:nvSpPr>
        <p:spPr>
          <a:xfrm>
            <a:off x="457200" y="304800"/>
            <a:ext cx="1127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作業フロー①　手配の確認と納期回答の依頼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A7E5EA-C20A-BFFE-1779-2DD3A939E050}"/>
              </a:ext>
            </a:extLst>
          </p:cNvPr>
          <p:cNvSpPr txBox="1"/>
          <p:nvPr/>
        </p:nvSpPr>
        <p:spPr>
          <a:xfrm>
            <a:off x="457200" y="812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3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注残リストをダウンロードしてから、資材担当が納期回答をシステムに入れるまで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2C79143-CA8A-1FF4-2E36-7DB52ACC323C}"/>
              </a:ext>
            </a:extLst>
          </p:cNvPr>
          <p:cNvSpPr/>
          <p:nvPr/>
        </p:nvSpPr>
        <p:spPr>
          <a:xfrm>
            <a:off x="9423400" y="876300"/>
            <a:ext cx="330200" cy="177800"/>
          </a:xfrm>
          <a:prstGeom prst="roundRect">
            <a:avLst>
              <a:gd name="adj" fmla="val 14000"/>
            </a:avLst>
          </a:prstGeom>
          <a:solidFill>
            <a:srgbClr val="D9607A"/>
          </a:solidFill>
          <a:ln w="12700">
            <a:solidFill>
              <a:srgbClr val="D960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5990D2-F159-4AF3-D2D2-A56827A4D78B}"/>
              </a:ext>
            </a:extLst>
          </p:cNvPr>
          <p:cNvSpPr txBox="1"/>
          <p:nvPr/>
        </p:nvSpPr>
        <p:spPr>
          <a:xfrm>
            <a:off x="9829800" y="838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＝アプリが自動で行う作業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7738529-99D4-644E-CB37-A662ED4F414D}"/>
              </a:ext>
            </a:extLst>
          </p:cNvPr>
          <p:cNvSpPr/>
          <p:nvPr/>
        </p:nvSpPr>
        <p:spPr>
          <a:xfrm>
            <a:off x="457200" y="1193800"/>
            <a:ext cx="11277600" cy="1701800"/>
          </a:xfrm>
          <a:prstGeom prst="rect">
            <a:avLst/>
          </a:prstGeom>
          <a:solidFill>
            <a:srgbClr val="FDE8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C724F72-82D3-B05B-5548-1A777EBCE1F5}"/>
              </a:ext>
            </a:extLst>
          </p:cNvPr>
          <p:cNvSpPr/>
          <p:nvPr/>
        </p:nvSpPr>
        <p:spPr>
          <a:xfrm>
            <a:off x="457200" y="1193800"/>
            <a:ext cx="914400" cy="1701800"/>
          </a:xfrm>
          <a:prstGeom prst="rect">
            <a:avLst/>
          </a:prstGeom>
          <a:solidFill>
            <a:srgbClr val="D960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>
              <a:spcAft>
                <a:spcPts val="200"/>
              </a:spcAft>
            </a:pPr>
            <a:r>
              <a:rPr kumimoji="1" lang="ja-JP" altLang="en-US" sz="1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生産管理部</a:t>
            </a:r>
          </a:p>
          <a:p>
            <a:pPr algn="ctr">
              <a:spcAft>
                <a:spcPts val="200"/>
              </a:spcAft>
            </a:pPr>
            <a:r>
              <a:rPr kumimoji="1" lang="ja-JP" altLang="en-US" sz="95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（取りまとめ）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8198E24-367D-8229-9F8E-0B417CDB7932}"/>
              </a:ext>
            </a:extLst>
          </p:cNvPr>
          <p:cNvSpPr/>
          <p:nvPr/>
        </p:nvSpPr>
        <p:spPr>
          <a:xfrm>
            <a:off x="457200" y="2946400"/>
            <a:ext cx="11277600" cy="1701800"/>
          </a:xfrm>
          <a:prstGeom prst="rect">
            <a:avLst/>
          </a:prstGeom>
          <a:solidFill>
            <a:srgbClr val="FFF0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C6E2749-1EA6-D331-4B82-3E01CB2E7EE6}"/>
              </a:ext>
            </a:extLst>
          </p:cNvPr>
          <p:cNvSpPr/>
          <p:nvPr/>
        </p:nvSpPr>
        <p:spPr>
          <a:xfrm>
            <a:off x="457200" y="2946400"/>
            <a:ext cx="914400" cy="1701800"/>
          </a:xfrm>
          <a:prstGeom prst="rect">
            <a:avLst/>
          </a:prstGeom>
          <a:solidFill>
            <a:srgbClr val="EC8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>
              <a:spcAft>
                <a:spcPts val="200"/>
              </a:spcAft>
            </a:pPr>
            <a:r>
              <a:rPr kumimoji="1" lang="zh-CN" altLang="en-US" sz="1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生産管理部</a:t>
            </a:r>
          </a:p>
          <a:p>
            <a:pPr algn="ctr">
              <a:spcAft>
                <a:spcPts val="200"/>
              </a:spcAft>
            </a:pPr>
            <a:r>
              <a:rPr kumimoji="1" lang="zh-CN" altLang="en-US" sz="95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（担当者）</a:t>
            </a:r>
            <a:endParaRPr kumimoji="1" lang="ja-JP" altLang="en-US" sz="95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0BD177A-1FA6-F100-3D1C-6F00BFC97BA3}"/>
              </a:ext>
            </a:extLst>
          </p:cNvPr>
          <p:cNvSpPr/>
          <p:nvPr/>
        </p:nvSpPr>
        <p:spPr>
          <a:xfrm>
            <a:off x="457200" y="4699000"/>
            <a:ext cx="11277600" cy="1701800"/>
          </a:xfrm>
          <a:prstGeom prst="rect">
            <a:avLst/>
          </a:prstGeom>
          <a:solidFill>
            <a:srgbClr val="E4F2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2D0FDAC-9585-AE97-EEF4-F1C5B0069156}"/>
              </a:ext>
            </a:extLst>
          </p:cNvPr>
          <p:cNvSpPr/>
          <p:nvPr/>
        </p:nvSpPr>
        <p:spPr>
          <a:xfrm>
            <a:off x="457200" y="4699000"/>
            <a:ext cx="914400" cy="1701800"/>
          </a:xfrm>
          <a:prstGeom prst="rect">
            <a:avLst/>
          </a:prstGeom>
          <a:solidFill>
            <a:srgbClr val="4F9C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>
              <a:spcAft>
                <a:spcPts val="200"/>
              </a:spcAft>
            </a:pPr>
            <a:r>
              <a:rPr kumimoji="1" lang="ja-JP" altLang="en-US" sz="13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資材</a:t>
            </a:r>
          </a:p>
          <a:p>
            <a:pPr algn="ctr">
              <a:spcAft>
                <a:spcPts val="200"/>
              </a:spcAft>
            </a:pPr>
            <a:r>
              <a:rPr kumimoji="1" lang="ja-JP" altLang="en-US" sz="13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CC1733D-F1B0-BC5A-14E7-1B3B5CF3C0F6}"/>
              </a:ext>
            </a:extLst>
          </p:cNvPr>
          <p:cNvSpPr/>
          <p:nvPr/>
        </p:nvSpPr>
        <p:spPr>
          <a:xfrm>
            <a:off x="1514475" y="1371600"/>
            <a:ext cx="11430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60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注残リスト</a:t>
            </a:r>
            <a:r>
              <a:rPr kumimoji="1" lang="en-US" altLang="ja-JP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DL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アマダサテライトパークからダウンロード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CC4C2A7E-A514-F1BC-7268-F99E85B6A226}"/>
              </a:ext>
            </a:extLst>
          </p:cNvPr>
          <p:cNvSpPr/>
          <p:nvPr/>
        </p:nvSpPr>
        <p:spPr>
          <a:xfrm>
            <a:off x="1425575" y="1257300"/>
            <a:ext cx="304800" cy="304800"/>
          </a:xfrm>
          <a:prstGeom prst="ellipse">
            <a:avLst/>
          </a:prstGeom>
          <a:solidFill>
            <a:srgbClr val="D9607A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担当者_1">
            <a:extLst>
              <a:ext uri="{FF2B5EF4-FFF2-40B4-BE49-F238E27FC236}">
                <a16:creationId xmlns:a16="http://schemas.microsoft.com/office/drawing/2014/main" id="{619F499F-9A9B-DF27-5FB5-BC39F3DAF7CE}"/>
              </a:ext>
            </a:extLst>
          </p:cNvPr>
          <p:cNvSpPr/>
          <p:nvPr/>
        </p:nvSpPr>
        <p:spPr>
          <a:xfrm>
            <a:off x="1577975" y="2527300"/>
            <a:ext cx="1016000" cy="228600"/>
          </a:xfrm>
          <a:prstGeom prst="roundRect">
            <a:avLst>
              <a:gd name="adj" fmla="val 14000"/>
            </a:avLst>
          </a:prstGeom>
          <a:solidFill>
            <a:srgbClr val="FDE8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r>
              <a:rPr kumimoji="1" lang="ja-JP" altLang="en-US" sz="9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担当：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FBDDDB84-A63D-92AF-CB96-66A49B30DC14}"/>
              </a:ext>
            </a:extLst>
          </p:cNvPr>
          <p:cNvSpPr/>
          <p:nvPr/>
        </p:nvSpPr>
        <p:spPr>
          <a:xfrm>
            <a:off x="2790825" y="1371600"/>
            <a:ext cx="11430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60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データ準備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製番台帳と発注仕入状況一覧表の最新版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47DC363F-743D-94D1-A7E6-45BCB47168BC}"/>
              </a:ext>
            </a:extLst>
          </p:cNvPr>
          <p:cNvSpPr/>
          <p:nvPr/>
        </p:nvSpPr>
        <p:spPr>
          <a:xfrm>
            <a:off x="2701925" y="1257300"/>
            <a:ext cx="304800" cy="304800"/>
          </a:xfrm>
          <a:prstGeom prst="ellipse">
            <a:avLst/>
          </a:prstGeom>
          <a:solidFill>
            <a:srgbClr val="D9607A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担当者_2">
            <a:extLst>
              <a:ext uri="{FF2B5EF4-FFF2-40B4-BE49-F238E27FC236}">
                <a16:creationId xmlns:a16="http://schemas.microsoft.com/office/drawing/2014/main" id="{A124D04B-3693-EED4-1D67-67AC3A9A5E78}"/>
              </a:ext>
            </a:extLst>
          </p:cNvPr>
          <p:cNvSpPr/>
          <p:nvPr/>
        </p:nvSpPr>
        <p:spPr>
          <a:xfrm>
            <a:off x="2854325" y="2527300"/>
            <a:ext cx="1016000" cy="228600"/>
          </a:xfrm>
          <a:prstGeom prst="roundRect">
            <a:avLst>
              <a:gd name="adj" fmla="val 14000"/>
            </a:avLst>
          </a:prstGeom>
          <a:solidFill>
            <a:srgbClr val="FDE8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r>
              <a:rPr kumimoji="1" lang="ja-JP" altLang="en-US" sz="9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担当：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A7C1525-61B1-B386-DB27-EF708EB7A05D}"/>
              </a:ext>
            </a:extLst>
          </p:cNvPr>
          <p:cNvSpPr/>
          <p:nvPr/>
        </p:nvSpPr>
        <p:spPr>
          <a:xfrm>
            <a:off x="4067175" y="1371600"/>
            <a:ext cx="11430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60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アプリに取込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「製番転記」アプリで実行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B98046D3-D7A7-B02B-7AB0-C58F2B7682E7}"/>
              </a:ext>
            </a:extLst>
          </p:cNvPr>
          <p:cNvSpPr/>
          <p:nvPr/>
        </p:nvSpPr>
        <p:spPr>
          <a:xfrm>
            <a:off x="3978275" y="1257300"/>
            <a:ext cx="304800" cy="304800"/>
          </a:xfrm>
          <a:prstGeom prst="ellipse">
            <a:avLst/>
          </a:prstGeom>
          <a:solidFill>
            <a:srgbClr val="D9607A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担当者_3">
            <a:extLst>
              <a:ext uri="{FF2B5EF4-FFF2-40B4-BE49-F238E27FC236}">
                <a16:creationId xmlns:a16="http://schemas.microsoft.com/office/drawing/2014/main" id="{5A8F70B4-11B8-08ED-A7AE-E17BBAD8208C}"/>
              </a:ext>
            </a:extLst>
          </p:cNvPr>
          <p:cNvSpPr/>
          <p:nvPr/>
        </p:nvSpPr>
        <p:spPr>
          <a:xfrm>
            <a:off x="4130675" y="2527300"/>
            <a:ext cx="1016000" cy="228600"/>
          </a:xfrm>
          <a:prstGeom prst="roundRect">
            <a:avLst>
              <a:gd name="adj" fmla="val 14000"/>
            </a:avLst>
          </a:prstGeom>
          <a:solidFill>
            <a:srgbClr val="FDE8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r>
              <a:rPr kumimoji="1" lang="ja-JP" altLang="en-US" sz="9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担当：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59F17F4B-AFCC-05EE-87A0-9F91D52863A7}"/>
              </a:ext>
            </a:extLst>
          </p:cNvPr>
          <p:cNvSpPr/>
          <p:nvPr/>
        </p:nvSpPr>
        <p:spPr>
          <a:xfrm>
            <a:off x="5343525" y="1371600"/>
            <a:ext cx="1143000" cy="1447800"/>
          </a:xfrm>
          <a:prstGeom prst="roundRect">
            <a:avLst>
              <a:gd name="adj" fmla="val 8000"/>
            </a:avLst>
          </a:prstGeom>
          <a:solidFill>
            <a:srgbClr val="D9607A"/>
          </a:solidFill>
          <a:ln w="19050">
            <a:solidFill>
              <a:srgbClr val="D960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自動で記入</a:t>
            </a:r>
          </a:p>
          <a:p>
            <a:r>
              <a:rPr kumimoji="1" lang="ja-JP" altLang="en-US" sz="10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「手配製番」「納期回答」「対象品番識別」が入る</a:t>
            </a: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EFE2F7A-7005-E825-E7E4-A71D512F0AD4}"/>
              </a:ext>
            </a:extLst>
          </p:cNvPr>
          <p:cNvSpPr/>
          <p:nvPr/>
        </p:nvSpPr>
        <p:spPr>
          <a:xfrm>
            <a:off x="5254625" y="1257300"/>
            <a:ext cx="304800" cy="304800"/>
          </a:xfrm>
          <a:prstGeom prst="ellipse">
            <a:avLst/>
          </a:prstGeom>
          <a:solidFill>
            <a:srgbClr val="5E4B8B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4103C793-B043-C040-A6FC-9C3869DB48A7}"/>
              </a:ext>
            </a:extLst>
          </p:cNvPr>
          <p:cNvSpPr/>
          <p:nvPr/>
        </p:nvSpPr>
        <p:spPr>
          <a:xfrm>
            <a:off x="6619875" y="1371600"/>
            <a:ext cx="11430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60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メール連絡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生産管理担当と資材担当へ</a:t>
            </a: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38307A68-A703-A7E3-861C-8FBBECD01549}"/>
              </a:ext>
            </a:extLst>
          </p:cNvPr>
          <p:cNvSpPr/>
          <p:nvPr/>
        </p:nvSpPr>
        <p:spPr>
          <a:xfrm>
            <a:off x="6530975" y="1257300"/>
            <a:ext cx="304800" cy="304800"/>
          </a:xfrm>
          <a:prstGeom prst="ellipse">
            <a:avLst/>
          </a:prstGeom>
          <a:solidFill>
            <a:srgbClr val="D9607A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担当者_5">
            <a:extLst>
              <a:ext uri="{FF2B5EF4-FFF2-40B4-BE49-F238E27FC236}">
                <a16:creationId xmlns:a16="http://schemas.microsoft.com/office/drawing/2014/main" id="{48A937A1-6360-6679-4D8B-7EE9F30AD55A}"/>
              </a:ext>
            </a:extLst>
          </p:cNvPr>
          <p:cNvSpPr/>
          <p:nvPr/>
        </p:nvSpPr>
        <p:spPr>
          <a:xfrm>
            <a:off x="6683375" y="2527300"/>
            <a:ext cx="1016000" cy="228600"/>
          </a:xfrm>
          <a:prstGeom prst="roundRect">
            <a:avLst>
              <a:gd name="adj" fmla="val 14000"/>
            </a:avLst>
          </a:prstGeom>
          <a:solidFill>
            <a:srgbClr val="FDE8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r>
              <a:rPr kumimoji="1" lang="ja-JP" altLang="en-US" sz="9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担当：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F1BA3DD5-DBBC-E820-4746-7ABA931F12B0}"/>
              </a:ext>
            </a:extLst>
          </p:cNvPr>
          <p:cNvSpPr/>
          <p:nvPr/>
        </p:nvSpPr>
        <p:spPr>
          <a:xfrm>
            <a:off x="7896225" y="3124200"/>
            <a:ext cx="11430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C8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未手配確認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「未手配」の手配状況を確認し、必要なら手配準備</a:t>
            </a: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A39F15-7DD7-9BA2-D294-3F85A82A4E70}"/>
              </a:ext>
            </a:extLst>
          </p:cNvPr>
          <p:cNvSpPr/>
          <p:nvPr/>
        </p:nvSpPr>
        <p:spPr>
          <a:xfrm>
            <a:off x="7807325" y="3009900"/>
            <a:ext cx="304800" cy="304800"/>
          </a:xfrm>
          <a:prstGeom prst="ellipse">
            <a:avLst/>
          </a:prstGeom>
          <a:solidFill>
            <a:srgbClr val="EC8A4A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担当者_6">
            <a:extLst>
              <a:ext uri="{FF2B5EF4-FFF2-40B4-BE49-F238E27FC236}">
                <a16:creationId xmlns:a16="http://schemas.microsoft.com/office/drawing/2014/main" id="{4D85288B-6511-66AA-6709-0A79CCDC9C4A}"/>
              </a:ext>
            </a:extLst>
          </p:cNvPr>
          <p:cNvSpPr/>
          <p:nvPr/>
        </p:nvSpPr>
        <p:spPr>
          <a:xfrm>
            <a:off x="7959725" y="4279900"/>
            <a:ext cx="1016000" cy="228600"/>
          </a:xfrm>
          <a:prstGeom prst="roundRect">
            <a:avLst>
              <a:gd name="adj" fmla="val 14000"/>
            </a:avLst>
          </a:prstGeom>
          <a:solidFill>
            <a:srgbClr val="FFF0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r>
              <a:rPr kumimoji="1" lang="ja-JP" altLang="en-US" sz="9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担当：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D2469B07-4DAF-FB30-DA7D-F24F3B9C2E80}"/>
              </a:ext>
            </a:extLst>
          </p:cNvPr>
          <p:cNvSpPr/>
          <p:nvPr/>
        </p:nvSpPr>
        <p:spPr>
          <a:xfrm>
            <a:off x="7896225" y="4876800"/>
            <a:ext cx="11430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9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回答依頼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発注明細シートで回答納期が空欄の業者へ依頼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572169BE-1372-D201-4BC6-1DDC753FCE67}"/>
              </a:ext>
            </a:extLst>
          </p:cNvPr>
          <p:cNvSpPr/>
          <p:nvPr/>
        </p:nvSpPr>
        <p:spPr>
          <a:xfrm>
            <a:off x="7807325" y="4762500"/>
            <a:ext cx="304800" cy="304800"/>
          </a:xfrm>
          <a:prstGeom prst="ellipse">
            <a:avLst/>
          </a:prstGeom>
          <a:solidFill>
            <a:srgbClr val="4F9CC4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担当者_7">
            <a:extLst>
              <a:ext uri="{FF2B5EF4-FFF2-40B4-BE49-F238E27FC236}">
                <a16:creationId xmlns:a16="http://schemas.microsoft.com/office/drawing/2014/main" id="{0037A52D-1B6F-A04E-7321-71149E39A714}"/>
              </a:ext>
            </a:extLst>
          </p:cNvPr>
          <p:cNvSpPr/>
          <p:nvPr/>
        </p:nvSpPr>
        <p:spPr>
          <a:xfrm>
            <a:off x="7959725" y="6032500"/>
            <a:ext cx="1016000" cy="228600"/>
          </a:xfrm>
          <a:prstGeom prst="roundRect">
            <a:avLst>
              <a:gd name="adj" fmla="val 14000"/>
            </a:avLst>
          </a:prstGeom>
          <a:solidFill>
            <a:srgbClr val="E4F2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r>
              <a:rPr kumimoji="1" lang="ja-JP" altLang="en-US" sz="9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担当：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A0A9437D-23F7-4F96-EA81-10FA8500E71B}"/>
              </a:ext>
            </a:extLst>
          </p:cNvPr>
          <p:cNvSpPr/>
          <p:nvPr/>
        </p:nvSpPr>
        <p:spPr>
          <a:xfrm>
            <a:off x="9172575" y="4876800"/>
            <a:ext cx="11430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9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システム入力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回答を受けたら生産管理システムに入力</a:t>
            </a: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8F79DF91-1BDA-4C70-9BC0-E7E41086946E}"/>
              </a:ext>
            </a:extLst>
          </p:cNvPr>
          <p:cNvSpPr/>
          <p:nvPr/>
        </p:nvSpPr>
        <p:spPr>
          <a:xfrm>
            <a:off x="9083675" y="4762500"/>
            <a:ext cx="304800" cy="304800"/>
          </a:xfrm>
          <a:prstGeom prst="ellipse">
            <a:avLst/>
          </a:prstGeom>
          <a:solidFill>
            <a:srgbClr val="4F9CC4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担当者_8">
            <a:extLst>
              <a:ext uri="{FF2B5EF4-FFF2-40B4-BE49-F238E27FC236}">
                <a16:creationId xmlns:a16="http://schemas.microsoft.com/office/drawing/2014/main" id="{FCF1F3CF-953F-BB26-7100-9B847961DDB6}"/>
              </a:ext>
            </a:extLst>
          </p:cNvPr>
          <p:cNvSpPr/>
          <p:nvPr/>
        </p:nvSpPr>
        <p:spPr>
          <a:xfrm>
            <a:off x="9236075" y="6032500"/>
            <a:ext cx="1016000" cy="228600"/>
          </a:xfrm>
          <a:prstGeom prst="roundRect">
            <a:avLst>
              <a:gd name="adj" fmla="val 14000"/>
            </a:avLst>
          </a:prstGeom>
          <a:solidFill>
            <a:srgbClr val="E4F2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r>
              <a:rPr kumimoji="1" lang="ja-JP" altLang="en-US" sz="9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担当：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A29DF548-3850-DCCC-6E4E-74E226C09955}"/>
              </a:ext>
            </a:extLst>
          </p:cNvPr>
          <p:cNvSpPr/>
          <p:nvPr/>
        </p:nvSpPr>
        <p:spPr>
          <a:xfrm>
            <a:off x="10448925" y="4876800"/>
            <a:ext cx="11430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9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完了報告</a:t>
            </a:r>
          </a:p>
          <a:p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入力が終わったことを生産管理に報告</a:t>
            </a: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888D1583-AE99-E137-1535-2F741D487727}"/>
              </a:ext>
            </a:extLst>
          </p:cNvPr>
          <p:cNvSpPr/>
          <p:nvPr/>
        </p:nvSpPr>
        <p:spPr>
          <a:xfrm>
            <a:off x="10360025" y="4762500"/>
            <a:ext cx="304800" cy="304800"/>
          </a:xfrm>
          <a:prstGeom prst="ellipse">
            <a:avLst/>
          </a:prstGeom>
          <a:solidFill>
            <a:srgbClr val="4F9CC4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担当者_9">
            <a:extLst>
              <a:ext uri="{FF2B5EF4-FFF2-40B4-BE49-F238E27FC236}">
                <a16:creationId xmlns:a16="http://schemas.microsoft.com/office/drawing/2014/main" id="{80C0256E-1F5F-D3FC-2BE7-854F2D7A7573}"/>
              </a:ext>
            </a:extLst>
          </p:cNvPr>
          <p:cNvSpPr/>
          <p:nvPr/>
        </p:nvSpPr>
        <p:spPr>
          <a:xfrm>
            <a:off x="10512425" y="6032500"/>
            <a:ext cx="1016000" cy="228600"/>
          </a:xfrm>
          <a:prstGeom prst="roundRect">
            <a:avLst>
              <a:gd name="adj" fmla="val 14000"/>
            </a:avLst>
          </a:prstGeom>
          <a:solidFill>
            <a:srgbClr val="E4F2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r>
              <a:rPr kumimoji="1" lang="ja-JP" altLang="en-US" sz="9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担当：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7160D7EF-B8B6-B2CE-98DC-B840B3336818}"/>
              </a:ext>
            </a:extLst>
          </p:cNvPr>
          <p:cNvSpPr/>
          <p:nvPr/>
        </p:nvSpPr>
        <p:spPr>
          <a:xfrm>
            <a:off x="10385425" y="3429000"/>
            <a:ext cx="1270000" cy="762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C8A4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kumimoji="1" lang="ja-JP" altLang="en-US" sz="10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報告を受けたら</a:t>
            </a:r>
          </a:p>
          <a:p>
            <a:pPr algn="ctr"/>
            <a:r>
              <a:rPr kumimoji="1" lang="ja-JP" altLang="en-US" sz="1200" b="1">
                <a:solidFill>
                  <a:srgbClr val="EC8A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作業フロー②へ</a:t>
            </a:r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1CBB0747-2CE1-16D9-5227-26F3CEC8A4D9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2657475" y="2095500"/>
            <a:ext cx="133350" cy="0"/>
          </a:xfrm>
          <a:prstGeom prst="straightConnector1">
            <a:avLst/>
          </a:prstGeom>
          <a:ln w="22225">
            <a:solidFill>
              <a:srgbClr val="D960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E7663111-1A7E-DD5C-BF25-42824D98B7A4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3933825" y="2095500"/>
            <a:ext cx="133350" cy="0"/>
          </a:xfrm>
          <a:prstGeom prst="straightConnector1">
            <a:avLst/>
          </a:prstGeom>
          <a:ln w="22225">
            <a:solidFill>
              <a:srgbClr val="D960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B51285C1-8F53-AEB6-FD93-C949B915F7E2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5210175" y="2095500"/>
            <a:ext cx="133350" cy="0"/>
          </a:xfrm>
          <a:prstGeom prst="straightConnector1">
            <a:avLst/>
          </a:prstGeom>
          <a:ln w="22225">
            <a:solidFill>
              <a:srgbClr val="D960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5B19E408-E1FF-8677-670B-32233596CC58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6486525" y="2095500"/>
            <a:ext cx="133350" cy="0"/>
          </a:xfrm>
          <a:prstGeom prst="straightConnector1">
            <a:avLst/>
          </a:prstGeom>
          <a:ln w="22225">
            <a:solidFill>
              <a:srgbClr val="D960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コネクタ: カギ線 42">
            <a:extLst>
              <a:ext uri="{FF2B5EF4-FFF2-40B4-BE49-F238E27FC236}">
                <a16:creationId xmlns:a16="http://schemas.microsoft.com/office/drawing/2014/main" id="{6BE04CBF-54A1-8E2F-F830-9D923403C1F1}"/>
              </a:ext>
            </a:extLst>
          </p:cNvPr>
          <p:cNvCxnSpPr>
            <a:cxnSpLocks/>
            <a:stCxn id="23" idx="2"/>
            <a:endCxn id="26" idx="1"/>
          </p:cNvCxnSpPr>
          <p:nvPr/>
        </p:nvCxnSpPr>
        <p:spPr>
          <a:xfrm rot="16200000" flipH="1">
            <a:off x="7029450" y="2981325"/>
            <a:ext cx="1028700" cy="704850"/>
          </a:xfrm>
          <a:prstGeom prst="bentConnector2">
            <a:avLst/>
          </a:prstGeom>
          <a:ln w="22225">
            <a:solidFill>
              <a:srgbClr val="EC8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8CEE57AF-2891-2276-0293-BFC6F1BC3884}"/>
              </a:ext>
            </a:extLst>
          </p:cNvPr>
          <p:cNvCxnSpPr>
            <a:cxnSpLocks/>
            <a:stCxn id="23" idx="2"/>
            <a:endCxn id="29" idx="1"/>
          </p:cNvCxnSpPr>
          <p:nvPr/>
        </p:nvCxnSpPr>
        <p:spPr>
          <a:xfrm rot="16200000" flipH="1">
            <a:off x="6153150" y="3857625"/>
            <a:ext cx="2781300" cy="704850"/>
          </a:xfrm>
          <a:prstGeom prst="bentConnector2">
            <a:avLst/>
          </a:prstGeom>
          <a:ln w="22225">
            <a:solidFill>
              <a:srgbClr val="4F9C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31DF8478-EAB6-54A6-8D41-354BB3933A0C}"/>
              </a:ext>
            </a:extLst>
          </p:cNvPr>
          <p:cNvCxnSpPr>
            <a:cxnSpLocks/>
            <a:stCxn id="29" idx="3"/>
            <a:endCxn id="32" idx="1"/>
          </p:cNvCxnSpPr>
          <p:nvPr/>
        </p:nvCxnSpPr>
        <p:spPr>
          <a:xfrm>
            <a:off x="9039225" y="5600700"/>
            <a:ext cx="133350" cy="0"/>
          </a:xfrm>
          <a:prstGeom prst="straightConnector1">
            <a:avLst/>
          </a:prstGeom>
          <a:ln w="22225">
            <a:solidFill>
              <a:srgbClr val="4F9C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B3365C7B-F156-53C8-7DAE-8166444EBF63}"/>
              </a:ext>
            </a:extLst>
          </p:cNvPr>
          <p:cNvCxnSpPr>
            <a:cxnSpLocks/>
            <a:stCxn id="32" idx="3"/>
            <a:endCxn id="35" idx="1"/>
          </p:cNvCxnSpPr>
          <p:nvPr/>
        </p:nvCxnSpPr>
        <p:spPr>
          <a:xfrm>
            <a:off x="10315575" y="5600700"/>
            <a:ext cx="133350" cy="0"/>
          </a:xfrm>
          <a:prstGeom prst="straightConnector1">
            <a:avLst/>
          </a:prstGeom>
          <a:ln w="22225">
            <a:solidFill>
              <a:srgbClr val="4F9C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FF21EBC0-4E4E-9201-2AB3-D249209889A9}"/>
              </a:ext>
            </a:extLst>
          </p:cNvPr>
          <p:cNvCxnSpPr>
            <a:cxnSpLocks/>
            <a:stCxn id="35" idx="0"/>
            <a:endCxn id="38" idx="2"/>
          </p:cNvCxnSpPr>
          <p:nvPr/>
        </p:nvCxnSpPr>
        <p:spPr>
          <a:xfrm flipV="1">
            <a:off x="11020425" y="4191000"/>
            <a:ext cx="0" cy="685800"/>
          </a:xfrm>
          <a:prstGeom prst="straightConnector1">
            <a:avLst/>
          </a:prstGeom>
          <a:ln w="22225">
            <a:solidFill>
              <a:srgbClr val="4F9C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45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065FB35-D8AC-AB21-4B99-C96C45CCC81D}"/>
              </a:ext>
            </a:extLst>
          </p:cNvPr>
          <p:cNvSpPr txBox="1"/>
          <p:nvPr/>
        </p:nvSpPr>
        <p:spPr>
          <a:xfrm>
            <a:off x="457200" y="304800"/>
            <a:ext cx="1127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5E4B8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作業フロー②　納期回答の反映とアップロード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47F15BF-E4E6-ABBA-17FE-9CEEDEE801C0}"/>
              </a:ext>
            </a:extLst>
          </p:cNvPr>
          <p:cNvSpPr txBox="1"/>
          <p:nvPr/>
        </p:nvSpPr>
        <p:spPr>
          <a:xfrm>
            <a:off x="457200" y="812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3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資材担当から入力完了の報告（⑨）を受けてから行います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122F421-4BE2-E3AD-2926-617809B7CAD4}"/>
              </a:ext>
            </a:extLst>
          </p:cNvPr>
          <p:cNvSpPr/>
          <p:nvPr/>
        </p:nvSpPr>
        <p:spPr>
          <a:xfrm>
            <a:off x="9423400" y="876300"/>
            <a:ext cx="330200" cy="177800"/>
          </a:xfrm>
          <a:prstGeom prst="roundRect">
            <a:avLst>
              <a:gd name="adj" fmla="val 14000"/>
            </a:avLst>
          </a:prstGeom>
          <a:solidFill>
            <a:srgbClr val="D9607A"/>
          </a:solidFill>
          <a:ln w="12700">
            <a:solidFill>
              <a:srgbClr val="D960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7DE9C2-7E3F-6E04-F80A-AF638341822E}"/>
              </a:ext>
            </a:extLst>
          </p:cNvPr>
          <p:cNvSpPr txBox="1"/>
          <p:nvPr/>
        </p:nvSpPr>
        <p:spPr>
          <a:xfrm>
            <a:off x="9829800" y="838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＝アプリが自動で行う作業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FBD7149-3B3B-542D-9EE1-08428DC02571}"/>
              </a:ext>
            </a:extLst>
          </p:cNvPr>
          <p:cNvSpPr/>
          <p:nvPr/>
        </p:nvSpPr>
        <p:spPr>
          <a:xfrm>
            <a:off x="457200" y="1219200"/>
            <a:ext cx="11277600" cy="1981200"/>
          </a:xfrm>
          <a:prstGeom prst="rect">
            <a:avLst/>
          </a:prstGeom>
          <a:solidFill>
            <a:srgbClr val="FDE8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13D823C-42E6-1646-0107-0D5C93A46B1C}"/>
              </a:ext>
            </a:extLst>
          </p:cNvPr>
          <p:cNvSpPr/>
          <p:nvPr/>
        </p:nvSpPr>
        <p:spPr>
          <a:xfrm>
            <a:off x="457200" y="1219200"/>
            <a:ext cx="914400" cy="1981200"/>
          </a:xfrm>
          <a:prstGeom prst="rect">
            <a:avLst/>
          </a:prstGeom>
          <a:solidFill>
            <a:srgbClr val="D960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>
              <a:spcAft>
                <a:spcPts val="200"/>
              </a:spcAft>
            </a:pPr>
            <a:r>
              <a:rPr kumimoji="1" lang="ja-JP" altLang="en-US" sz="1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生産管理部</a:t>
            </a:r>
          </a:p>
          <a:p>
            <a:pPr algn="ctr">
              <a:spcAft>
                <a:spcPts val="200"/>
              </a:spcAft>
            </a:pPr>
            <a:r>
              <a:rPr kumimoji="1" lang="ja-JP" altLang="en-US" sz="95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（取りまとめ）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147D887-9827-B252-8D58-2368EB584739}"/>
              </a:ext>
            </a:extLst>
          </p:cNvPr>
          <p:cNvSpPr/>
          <p:nvPr/>
        </p:nvSpPr>
        <p:spPr>
          <a:xfrm>
            <a:off x="457200" y="3327400"/>
            <a:ext cx="11277600" cy="1981200"/>
          </a:xfrm>
          <a:prstGeom prst="rect">
            <a:avLst/>
          </a:prstGeom>
          <a:solidFill>
            <a:srgbClr val="FFF0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39C4FA3-F9A8-2971-59E9-7AFE6462792C}"/>
              </a:ext>
            </a:extLst>
          </p:cNvPr>
          <p:cNvSpPr/>
          <p:nvPr/>
        </p:nvSpPr>
        <p:spPr>
          <a:xfrm>
            <a:off x="457200" y="3327400"/>
            <a:ext cx="914400" cy="1981200"/>
          </a:xfrm>
          <a:prstGeom prst="rect">
            <a:avLst/>
          </a:prstGeom>
          <a:solidFill>
            <a:srgbClr val="EC8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>
              <a:spcAft>
                <a:spcPts val="200"/>
              </a:spcAft>
            </a:pPr>
            <a:r>
              <a:rPr kumimoji="1" lang="zh-CN" altLang="en-US" sz="1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生産管理部</a:t>
            </a:r>
          </a:p>
          <a:p>
            <a:pPr algn="ctr">
              <a:spcAft>
                <a:spcPts val="200"/>
              </a:spcAft>
            </a:pPr>
            <a:r>
              <a:rPr kumimoji="1" lang="zh-CN" altLang="en-US" sz="95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（担当者）</a:t>
            </a:r>
            <a:endParaRPr kumimoji="1" lang="ja-JP" altLang="en-US" sz="95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601FC4D-8A4A-D461-29C1-3530D1CDBCDE}"/>
              </a:ext>
            </a:extLst>
          </p:cNvPr>
          <p:cNvSpPr/>
          <p:nvPr/>
        </p:nvSpPr>
        <p:spPr>
          <a:xfrm>
            <a:off x="1541780" y="1447800"/>
            <a:ext cx="1854200" cy="157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60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4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最新データ準備</a:t>
            </a:r>
          </a:p>
          <a:p>
            <a:r>
              <a:rPr kumimoji="1" lang="ja-JP" altLang="en-US" sz="12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製番台帳と発注仕入状況一覧表の最新版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2238C042-B65E-AECD-C83D-DAD7D44F10B2}"/>
              </a:ext>
            </a:extLst>
          </p:cNvPr>
          <p:cNvSpPr/>
          <p:nvPr/>
        </p:nvSpPr>
        <p:spPr>
          <a:xfrm>
            <a:off x="1452880" y="1333500"/>
            <a:ext cx="304800" cy="304800"/>
          </a:xfrm>
          <a:prstGeom prst="ellipse">
            <a:avLst/>
          </a:prstGeom>
          <a:solidFill>
            <a:srgbClr val="D9607A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担当者_10">
            <a:extLst>
              <a:ext uri="{FF2B5EF4-FFF2-40B4-BE49-F238E27FC236}">
                <a16:creationId xmlns:a16="http://schemas.microsoft.com/office/drawing/2014/main" id="{039DA31F-020B-76D2-82AE-86063A31A82D}"/>
              </a:ext>
            </a:extLst>
          </p:cNvPr>
          <p:cNvSpPr/>
          <p:nvPr/>
        </p:nvSpPr>
        <p:spPr>
          <a:xfrm>
            <a:off x="1605280" y="2679700"/>
            <a:ext cx="1727200" cy="279400"/>
          </a:xfrm>
          <a:prstGeom prst="roundRect">
            <a:avLst>
              <a:gd name="adj" fmla="val 14000"/>
            </a:avLst>
          </a:prstGeom>
          <a:solidFill>
            <a:srgbClr val="FDE8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担当：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41BDACD4-F04B-9E3C-0B75-74C389B3A2CC}"/>
              </a:ext>
            </a:extLst>
          </p:cNvPr>
          <p:cNvSpPr/>
          <p:nvPr/>
        </p:nvSpPr>
        <p:spPr>
          <a:xfrm>
            <a:off x="3583940" y="1447800"/>
            <a:ext cx="1854200" cy="157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60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4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アプリに取込</a:t>
            </a:r>
          </a:p>
          <a:p>
            <a:r>
              <a:rPr kumimoji="1" lang="ja-JP" altLang="en-US" sz="12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「製番転記」アプリで実行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D6AFDB06-63CA-AFC0-7D55-DECFA3CE554C}"/>
              </a:ext>
            </a:extLst>
          </p:cNvPr>
          <p:cNvSpPr/>
          <p:nvPr/>
        </p:nvSpPr>
        <p:spPr>
          <a:xfrm>
            <a:off x="3495040" y="1333500"/>
            <a:ext cx="304800" cy="304800"/>
          </a:xfrm>
          <a:prstGeom prst="ellipse">
            <a:avLst/>
          </a:prstGeom>
          <a:solidFill>
            <a:srgbClr val="D9607A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11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担当者_11">
            <a:extLst>
              <a:ext uri="{FF2B5EF4-FFF2-40B4-BE49-F238E27FC236}">
                <a16:creationId xmlns:a16="http://schemas.microsoft.com/office/drawing/2014/main" id="{D6993E2A-F175-B87B-BD71-5D86ACD17CDD}"/>
              </a:ext>
            </a:extLst>
          </p:cNvPr>
          <p:cNvSpPr/>
          <p:nvPr/>
        </p:nvSpPr>
        <p:spPr>
          <a:xfrm>
            <a:off x="3647440" y="2679700"/>
            <a:ext cx="1727200" cy="279400"/>
          </a:xfrm>
          <a:prstGeom prst="roundRect">
            <a:avLst>
              <a:gd name="adj" fmla="val 14000"/>
            </a:avLst>
          </a:prstGeom>
          <a:solidFill>
            <a:srgbClr val="FDE8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担当：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1CE37C13-02BC-1929-C2D1-4892EE4D4EF8}"/>
              </a:ext>
            </a:extLst>
          </p:cNvPr>
          <p:cNvSpPr/>
          <p:nvPr/>
        </p:nvSpPr>
        <p:spPr>
          <a:xfrm>
            <a:off x="5626100" y="1447800"/>
            <a:ext cx="1854200" cy="1574800"/>
          </a:xfrm>
          <a:prstGeom prst="roundRect">
            <a:avLst>
              <a:gd name="adj" fmla="val 8000"/>
            </a:avLst>
          </a:prstGeom>
          <a:solidFill>
            <a:srgbClr val="D9607A"/>
          </a:solidFill>
          <a:ln w="19050">
            <a:solidFill>
              <a:srgbClr val="D960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4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自動で記入</a:t>
            </a:r>
          </a:p>
          <a:p>
            <a:r>
              <a:rPr kumimoji="1" lang="ja-JP" altLang="en-US" sz="12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「手配製番」「納期回答」「対象品番識別」が最新になる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FC3CD5ED-58D8-3149-FD30-3060E5114813}"/>
              </a:ext>
            </a:extLst>
          </p:cNvPr>
          <p:cNvSpPr/>
          <p:nvPr/>
        </p:nvSpPr>
        <p:spPr>
          <a:xfrm>
            <a:off x="5537200" y="1333500"/>
            <a:ext cx="304800" cy="304800"/>
          </a:xfrm>
          <a:prstGeom prst="ellipse">
            <a:avLst/>
          </a:prstGeom>
          <a:solidFill>
            <a:srgbClr val="5E4B8B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111A7C8-E4E2-03C2-02C7-2A3ED4DCDCF0}"/>
              </a:ext>
            </a:extLst>
          </p:cNvPr>
          <p:cNvSpPr/>
          <p:nvPr/>
        </p:nvSpPr>
        <p:spPr>
          <a:xfrm>
            <a:off x="7668260" y="3556000"/>
            <a:ext cx="1854200" cy="157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C8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4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回答の確認・入力</a:t>
            </a:r>
          </a:p>
          <a:p>
            <a:r>
              <a:rPr kumimoji="1" lang="ja-JP" altLang="en-US" sz="12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納期回答を確認し、客先納期回答欄に入力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B1D2C377-41E7-7224-4ABA-F4FD1BC21518}"/>
              </a:ext>
            </a:extLst>
          </p:cNvPr>
          <p:cNvSpPr/>
          <p:nvPr/>
        </p:nvSpPr>
        <p:spPr>
          <a:xfrm>
            <a:off x="7579360" y="3441700"/>
            <a:ext cx="304800" cy="304800"/>
          </a:xfrm>
          <a:prstGeom prst="ellipse">
            <a:avLst/>
          </a:prstGeom>
          <a:solidFill>
            <a:srgbClr val="EC8A4A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13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担当者_13">
            <a:extLst>
              <a:ext uri="{FF2B5EF4-FFF2-40B4-BE49-F238E27FC236}">
                <a16:creationId xmlns:a16="http://schemas.microsoft.com/office/drawing/2014/main" id="{625FA9DE-33A7-21E5-053D-8964944AE149}"/>
              </a:ext>
            </a:extLst>
          </p:cNvPr>
          <p:cNvSpPr/>
          <p:nvPr/>
        </p:nvSpPr>
        <p:spPr>
          <a:xfrm>
            <a:off x="7731760" y="4787900"/>
            <a:ext cx="1727200" cy="279400"/>
          </a:xfrm>
          <a:prstGeom prst="roundRect">
            <a:avLst>
              <a:gd name="adj" fmla="val 14000"/>
            </a:avLst>
          </a:prstGeom>
          <a:solidFill>
            <a:srgbClr val="FFF0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担当：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E9A53EF9-4A00-73E3-AF51-5671A938E98E}"/>
              </a:ext>
            </a:extLst>
          </p:cNvPr>
          <p:cNvSpPr/>
          <p:nvPr/>
        </p:nvSpPr>
        <p:spPr>
          <a:xfrm>
            <a:off x="9710420" y="3556000"/>
            <a:ext cx="1854200" cy="157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C8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03200" rIns="63500" bIns="635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400" b="1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アップロード</a:t>
            </a:r>
          </a:p>
          <a:p>
            <a:r>
              <a:rPr kumimoji="1" lang="ja-JP" altLang="en-US" sz="12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アマダサプライヤーポータルへ</a:t>
            </a: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72F5D717-7365-778B-D3D4-35DDA4316752}"/>
              </a:ext>
            </a:extLst>
          </p:cNvPr>
          <p:cNvSpPr/>
          <p:nvPr/>
        </p:nvSpPr>
        <p:spPr>
          <a:xfrm>
            <a:off x="9621520" y="3441700"/>
            <a:ext cx="304800" cy="304800"/>
          </a:xfrm>
          <a:prstGeom prst="ellipse">
            <a:avLst/>
          </a:prstGeom>
          <a:solidFill>
            <a:srgbClr val="EC8A4A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14</a:t>
            </a:r>
            <a:endParaRPr kumimoji="1" lang="ja-JP" altLang="en-US" sz="11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担当者_14">
            <a:extLst>
              <a:ext uri="{FF2B5EF4-FFF2-40B4-BE49-F238E27FC236}">
                <a16:creationId xmlns:a16="http://schemas.microsoft.com/office/drawing/2014/main" id="{D62D3185-A09A-63E1-6BC8-ACF716C16302}"/>
              </a:ext>
            </a:extLst>
          </p:cNvPr>
          <p:cNvSpPr/>
          <p:nvPr/>
        </p:nvSpPr>
        <p:spPr>
          <a:xfrm>
            <a:off x="9773920" y="4787900"/>
            <a:ext cx="1727200" cy="279400"/>
          </a:xfrm>
          <a:prstGeom prst="roundRect">
            <a:avLst>
              <a:gd name="adj" fmla="val 14000"/>
            </a:avLst>
          </a:prstGeom>
          <a:solidFill>
            <a:srgbClr val="FFF0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r>
              <a:rPr kumimoji="1" lang="ja-JP" altLang="en-US" sz="1100">
                <a:solidFill>
                  <a:srgbClr val="7A6F8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担当：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0F122F50-02DF-2E10-D719-D3180C75928E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3395980" y="2235200"/>
            <a:ext cx="187960" cy="0"/>
          </a:xfrm>
          <a:prstGeom prst="straightConnector1">
            <a:avLst/>
          </a:prstGeom>
          <a:ln w="22225">
            <a:solidFill>
              <a:srgbClr val="D960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E5332E85-B368-9F8E-F040-868556981AAD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5438140" y="2235200"/>
            <a:ext cx="187960" cy="0"/>
          </a:xfrm>
          <a:prstGeom prst="straightConnector1">
            <a:avLst/>
          </a:prstGeom>
          <a:ln w="22225">
            <a:solidFill>
              <a:srgbClr val="D960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4ED166C8-2B5A-558B-4AD9-F1EB664B47AE}"/>
              </a:ext>
            </a:extLst>
          </p:cNvPr>
          <p:cNvCxnSpPr>
            <a:cxnSpLocks/>
            <a:stCxn id="16" idx="2"/>
            <a:endCxn id="18" idx="1"/>
          </p:cNvCxnSpPr>
          <p:nvPr/>
        </p:nvCxnSpPr>
        <p:spPr>
          <a:xfrm rot="16200000" flipH="1">
            <a:off x="6450330" y="3125470"/>
            <a:ext cx="1320800" cy="1115060"/>
          </a:xfrm>
          <a:prstGeom prst="bentConnector2">
            <a:avLst/>
          </a:prstGeom>
          <a:ln w="22225">
            <a:solidFill>
              <a:srgbClr val="EC8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2279115D-67F8-794F-2339-DA038B59E4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9522460" y="4343400"/>
            <a:ext cx="187960" cy="0"/>
          </a:xfrm>
          <a:prstGeom prst="straightConnector1">
            <a:avLst/>
          </a:prstGeom>
          <a:ln w="22225">
            <a:solidFill>
              <a:srgbClr val="EC8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71815011-78FD-C2E1-D20D-642C80AB959A}"/>
              </a:ext>
            </a:extLst>
          </p:cNvPr>
          <p:cNvSpPr/>
          <p:nvPr/>
        </p:nvSpPr>
        <p:spPr>
          <a:xfrm>
            <a:off x="457200" y="5511800"/>
            <a:ext cx="11277600" cy="812800"/>
          </a:xfrm>
          <a:prstGeom prst="roundRect">
            <a:avLst>
              <a:gd name="adj" fmla="val 14000"/>
            </a:avLst>
          </a:prstGeom>
          <a:solidFill>
            <a:srgbClr val="FFF0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bIns="203200" rtlCol="0" anchor="ctr"/>
          <a:lstStyle/>
          <a:p>
            <a:pPr>
              <a:spcAft>
                <a:spcPts val="200"/>
              </a:spcAft>
            </a:pPr>
            <a:r>
              <a:rPr kumimoji="1" lang="ja-JP" altLang="en-US" sz="1400" b="1">
                <a:solidFill>
                  <a:srgbClr val="EC8A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</a:p>
          <a:p>
            <a:r>
              <a:rPr kumimoji="1" lang="ja-JP" altLang="en-US" sz="1400">
                <a:solidFill>
                  <a:srgbClr val="3A334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⑧で生産管理システムに入れた納期回答は、⑪⑫でアプリが注残リストに入れます。注残リストへ手で入れる必要はありません。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2659331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Microsoft Office PowerPoint</Application>
  <PresentationFormat>ユーザー設定</PresentationFormat>
  <Paragraphs>176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熊谷 奈保</dc:creator>
  <cp:lastModifiedBy>熊谷 奈保</cp:lastModifiedBy>
  <cp:revision>1</cp:revision>
  <dcterms:created xsi:type="dcterms:W3CDTF">2026-10-31T04:07:32Z</dcterms:created>
  <dcterms:modified xsi:type="dcterms:W3CDTF">2026-10-31T04:07:32Z</dcterms:modified>
</cp:coreProperties>
</file>