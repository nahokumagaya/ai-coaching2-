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4F7113-061B-5F9B-03B8-4A7D5E8FF4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ED3A83D-910B-1419-2F04-391D60A80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AF7EFB-B04D-E75B-3CF2-62003FEEC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F16D-13F2-48C3-9088-6A27A8B164A1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2B65EE-3342-2BF4-16AF-52B79E0D5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C42E40-C75D-88C2-000E-D23B651A9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78ED4-A35A-4F25-AC25-841C674C09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8194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62676A-7E39-9B26-200D-DCB4F8AF5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01A610-ADF1-A67A-A625-F80F12819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643C04-A0B7-C173-7BE6-7D12F2E9A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F16D-13F2-48C3-9088-6A27A8B164A1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61107E-B42B-500C-1D98-2C35BDE0A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6EE552-4AF3-A813-29C9-64D156133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78ED4-A35A-4F25-AC25-841C674C09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754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724848-97B1-0944-1E29-14D63E81F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FE31258-A094-A181-EFD1-5F55D7255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221ACB-1837-C76A-735F-855382093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F16D-13F2-48C3-9088-6A27A8B164A1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BB422A-A06D-7C6B-3545-F20F97360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652EC2-BE0C-5A21-2263-C2404302D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78ED4-A35A-4F25-AC25-841C674C09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4888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206B2E-6854-671D-3521-403916FC9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686EA6-FEFF-B2AC-953C-F1FD43D88C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A7C2ECA-2BC3-F55D-3800-D012A68E7E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C65B83D-486C-DF5C-1C17-885D895EF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F16D-13F2-48C3-9088-6A27A8B164A1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85F827B-F473-1270-B598-46D756675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E85BD7-3794-EF04-3FE9-E9928664A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78ED4-A35A-4F25-AC25-841C674C09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0512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C31883-7005-328A-514B-37CCB3752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15F7D1-36B1-D7A2-BD4C-5F14F3E31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B5B7FD7-0252-4050-CB13-9B0F84D90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B4A3277-B54B-8CFC-D4B1-3CCFC2D80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5109458-9EDA-2FA3-A87D-1E07ECA743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DF9F593-0902-7B01-80F1-BC2BE7499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F16D-13F2-48C3-9088-6A27A8B164A1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FDCF1AC-DEBB-E177-B851-B963EB5E1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0FBE30D-A69F-5A95-AEC9-71A0611A4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78ED4-A35A-4F25-AC25-841C674C09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1749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A685B0-6325-AB2D-2C76-5B73A972C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382AF94-7122-806B-74DB-465DE30CA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F16D-13F2-48C3-9088-6A27A8B164A1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6FDBFC1-5080-8602-309C-1C2293E1F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F87B957-3ABF-45EF-E71C-697142E21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78ED4-A35A-4F25-AC25-841C674C09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7111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F2DEE0C-B4C8-537E-58E9-17CFD7460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F16D-13F2-48C3-9088-6A27A8B164A1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CEC6209-49A0-5538-3470-831E57FE3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3C5163-8946-0586-5020-C5B45F29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78ED4-A35A-4F25-AC25-841C674C09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8313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D66A17-97C2-FB12-347A-30A45D08C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0DCF56E-DD58-62E9-48EB-58091FEAB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D0AAC8F-1F76-6207-D06D-3846304A2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DA9286-0966-42C7-D66A-874629EE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F16D-13F2-48C3-9088-6A27A8B164A1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172EFF-DFE8-8F3B-3049-CA1D58273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8965A5-ADC8-C6DA-C725-E264A5649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78ED4-A35A-4F25-AC25-841C674C09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216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EE06D3-0CDC-171F-7076-23910F98B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600977A-B93F-F69B-4C48-7AD6B983D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8D53242-5941-BF2E-A196-BE6CCBD72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0F0A11-B0AF-55B1-571C-C4D4DA2BD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F16D-13F2-48C3-9088-6A27A8B164A1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AB75F58-E11C-7317-A8C3-D9ED82444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EABC641-3246-76E4-93EB-449754962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78ED4-A35A-4F25-AC25-841C674C09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4266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3F7721-70D9-018C-90AD-EA302294F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8638193-639B-670E-0CC8-BC2B01AE2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A14FB2-494E-D718-13A2-B7DCF3DFF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F16D-13F2-48C3-9088-6A27A8B164A1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523180-E950-84F9-72BF-82DD48DE4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826065-FB36-D99E-D01A-186735317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78ED4-A35A-4F25-AC25-841C674C09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2887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A28375C-AE58-2E56-FE83-17CFC1D049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4621620-50F4-9D4E-7EC4-2D3A247A6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805190-386B-6660-23DB-33765B739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AF16D-13F2-48C3-9088-6A27A8B164A1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89CCEA-F439-63FD-B0AA-1665BC65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45D94A-9DD2-C2D9-3BE6-A46183522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78ED4-A35A-4F25-AC25-841C674C09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2094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6B7A42A-EA65-2F6C-E69B-DEE7E588B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C5CDE8-D4EC-160C-E623-CA6C14380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B35826-7900-E32F-59E2-355550046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5AF16D-13F2-48C3-9088-6A27A8B164A1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32B890-064E-3472-09F0-71E11991FA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31A53F-CE70-0E7A-BCD7-5073F1C65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D78ED4-A35A-4F25-AC25-841C674C09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6109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6A5FFFE-3212-3465-764D-F435561C279F}"/>
              </a:ext>
            </a:extLst>
          </p:cNvPr>
          <p:cNvSpPr txBox="1"/>
          <p:nvPr/>
        </p:nvSpPr>
        <p:spPr>
          <a:xfrm>
            <a:off x="508000" y="330200"/>
            <a:ext cx="7112000" cy="523220"/>
          </a:xfrm>
          <a:prstGeom prst="rect">
            <a:avLst/>
          </a:prstGeom>
          <a:noFill/>
        </p:spPr>
        <p:txBody>
          <a:bodyPr vert="horz" lIns="0" rtlCol="0">
            <a:spAutoFit/>
          </a:bodyPr>
          <a:lstStyle/>
          <a:p>
            <a:r>
              <a:rPr kumimoji="1" lang="ja-JP" altLang="en-US" sz="2800" b="1">
                <a:solidFill>
                  <a:srgbClr val="2C2C2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納期回答アップロードのフロー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1584112A-A0C3-6D44-EA01-8954DC4561DC}"/>
              </a:ext>
            </a:extLst>
          </p:cNvPr>
          <p:cNvSpPr/>
          <p:nvPr/>
        </p:nvSpPr>
        <p:spPr>
          <a:xfrm>
            <a:off x="7112000" y="533400"/>
            <a:ext cx="177800" cy="177800"/>
          </a:xfrm>
          <a:prstGeom prst="roundRect">
            <a:avLst/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98BB914-69FD-9EE3-CFBE-3F23C4E8F314}"/>
              </a:ext>
            </a:extLst>
          </p:cNvPr>
          <p:cNvSpPr txBox="1"/>
          <p:nvPr/>
        </p:nvSpPr>
        <p:spPr>
          <a:xfrm>
            <a:off x="7340600" y="482600"/>
            <a:ext cx="355600" cy="169277"/>
          </a:xfrm>
          <a:prstGeom prst="rect">
            <a:avLst/>
          </a:prstGeom>
          <a:noFill/>
        </p:spPr>
        <p:txBody>
          <a:bodyPr vert="horz" wrap="none" lIns="0" tIns="0" bIns="0" rtlCol="0">
            <a:noAutofit/>
          </a:bodyPr>
          <a:lstStyle/>
          <a:p>
            <a:r>
              <a:rPr kumimoji="1" lang="ja-JP" altLang="en-US" sz="1100">
                <a:solidFill>
                  <a:srgbClr val="44444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熊谷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6BA9CC7-88D9-6D80-B2A6-B026851F6BA1}"/>
              </a:ext>
            </a:extLst>
          </p:cNvPr>
          <p:cNvSpPr/>
          <p:nvPr/>
        </p:nvSpPr>
        <p:spPr>
          <a:xfrm>
            <a:off x="7899400" y="533400"/>
            <a:ext cx="177800" cy="17780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E16E45C-72C1-B609-57AC-36D69392BEB1}"/>
              </a:ext>
            </a:extLst>
          </p:cNvPr>
          <p:cNvSpPr txBox="1"/>
          <p:nvPr/>
        </p:nvSpPr>
        <p:spPr>
          <a:xfrm>
            <a:off x="8128000" y="482600"/>
            <a:ext cx="1333500" cy="169277"/>
          </a:xfrm>
          <a:prstGeom prst="rect">
            <a:avLst/>
          </a:prstGeom>
          <a:noFill/>
        </p:spPr>
        <p:txBody>
          <a:bodyPr vert="horz" wrap="none" lIns="0" tIns="0" bIns="0" rtlCol="0">
            <a:noAutofit/>
          </a:bodyPr>
          <a:lstStyle/>
          <a:p>
            <a:r>
              <a:rPr kumimoji="1" lang="ja-JP" altLang="en-US" sz="1100">
                <a:solidFill>
                  <a:srgbClr val="44444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白滝（代行：熊谷）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44EEA2B6-91B0-549A-214C-4883382806C4}"/>
              </a:ext>
            </a:extLst>
          </p:cNvPr>
          <p:cNvSpPr/>
          <p:nvPr/>
        </p:nvSpPr>
        <p:spPr>
          <a:xfrm>
            <a:off x="9664700" y="533400"/>
            <a:ext cx="177800" cy="17780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084F3E2-29F8-E2E5-1DD2-B3D62953109F}"/>
              </a:ext>
            </a:extLst>
          </p:cNvPr>
          <p:cNvSpPr txBox="1"/>
          <p:nvPr/>
        </p:nvSpPr>
        <p:spPr>
          <a:xfrm>
            <a:off x="9893300" y="482600"/>
            <a:ext cx="1054100" cy="169277"/>
          </a:xfrm>
          <a:prstGeom prst="rect">
            <a:avLst/>
          </a:prstGeom>
          <a:noFill/>
        </p:spPr>
        <p:txBody>
          <a:bodyPr vert="horz" wrap="none" lIns="0" tIns="0" bIns="0" rtlCol="0">
            <a:noAutofit/>
          </a:bodyPr>
          <a:lstStyle/>
          <a:p>
            <a:r>
              <a:rPr kumimoji="1" lang="zh-TW" altLang="en-US" sz="1100">
                <a:solidFill>
                  <a:srgbClr val="44444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小野崎（資材）</a:t>
            </a:r>
            <a:endParaRPr kumimoji="1" lang="ja-JP" altLang="en-US" sz="1100">
              <a:solidFill>
                <a:srgbClr val="44444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tep1">
            <a:extLst>
              <a:ext uri="{FF2B5EF4-FFF2-40B4-BE49-F238E27FC236}">
                <a16:creationId xmlns:a16="http://schemas.microsoft.com/office/drawing/2014/main" id="{D7E7F97D-F00E-D767-D210-9519AC7E27AA}"/>
              </a:ext>
            </a:extLst>
          </p:cNvPr>
          <p:cNvSpPr/>
          <p:nvPr/>
        </p:nvSpPr>
        <p:spPr>
          <a:xfrm>
            <a:off x="508000" y="1333500"/>
            <a:ext cx="1651000" cy="2032000"/>
          </a:xfrm>
          <a:prstGeom prst="roundRect">
            <a:avLst>
              <a:gd name="adj" fmla="val 7000"/>
            </a:avLst>
          </a:prstGeom>
          <a:solidFill>
            <a:srgbClr val="EEEDFE"/>
          </a:solidFill>
          <a:ln w="9525">
            <a:solidFill>
              <a:srgbClr val="AFA9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D0F78F2C-575D-88D7-ADAB-C9F337A6F46C}"/>
              </a:ext>
            </a:extLst>
          </p:cNvPr>
          <p:cNvSpPr/>
          <p:nvPr/>
        </p:nvSpPr>
        <p:spPr>
          <a:xfrm>
            <a:off x="635000" y="1460500"/>
            <a:ext cx="330200" cy="330200"/>
          </a:xfrm>
          <a:prstGeom prst="ellipse">
            <a:avLst/>
          </a:prstGeom>
          <a:solidFill>
            <a:srgbClr val="534AB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endParaRPr kumimoji="1" lang="ja-JP" altLang="en-US" sz="1200" b="1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tep1Text">
            <a:extLst>
              <a:ext uri="{FF2B5EF4-FFF2-40B4-BE49-F238E27FC236}">
                <a16:creationId xmlns:a16="http://schemas.microsoft.com/office/drawing/2014/main" id="{E044F9C8-E157-6F5A-EFD2-3AB673287A79}"/>
              </a:ext>
            </a:extLst>
          </p:cNvPr>
          <p:cNvSpPr txBox="1"/>
          <p:nvPr/>
        </p:nvSpPr>
        <p:spPr>
          <a:xfrm>
            <a:off x="584200" y="1866900"/>
            <a:ext cx="1498600" cy="369332"/>
          </a:xfrm>
          <a:prstGeom prst="rect">
            <a:avLst/>
          </a:prstGeom>
          <a:noFill/>
        </p:spPr>
        <p:txBody>
          <a:bodyPr vert="horz" wrap="square" lIns="25400" rIns="25400" rtlCol="0">
            <a:no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1200" b="1">
                <a:solidFill>
                  <a:srgbClr val="3C348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注残リスト取得</a:t>
            </a:r>
          </a:p>
          <a:p>
            <a:pPr>
              <a:spcAft>
                <a:spcPts val="200"/>
              </a:spcAft>
            </a:pPr>
            <a:r>
              <a:rPr kumimoji="1" lang="ja-JP" altLang="en-US" sz="1050">
                <a:solidFill>
                  <a:srgbClr val="534AB7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担当：熊谷</a:t>
            </a:r>
          </a:p>
          <a:p>
            <a:pPr>
              <a:spcAft>
                <a:spcPts val="200"/>
              </a:spcAft>
            </a:pPr>
            <a:r>
              <a:rPr kumimoji="1" lang="ja-JP" altLang="en-US" sz="1050">
                <a:solidFill>
                  <a:srgbClr val="534AB7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毎週火曜</a:t>
            </a:r>
          </a:p>
          <a:p>
            <a:pPr>
              <a:spcAft>
                <a:spcPts val="200"/>
              </a:spcAft>
            </a:pPr>
            <a:r>
              <a:rPr kumimoji="1" lang="ja-JP" altLang="en-US" sz="1050">
                <a:solidFill>
                  <a:srgbClr val="534AB7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対象：取得日</a:t>
            </a:r>
            <a:r>
              <a:rPr kumimoji="1" lang="en-US" altLang="ja-JP" sz="1050">
                <a:solidFill>
                  <a:srgbClr val="534AB7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〜1</a:t>
            </a:r>
            <a:r>
              <a:rPr kumimoji="1" lang="ja-JP" altLang="en-US" sz="1050">
                <a:solidFill>
                  <a:srgbClr val="534AB7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か月後</a:t>
            </a:r>
          </a:p>
        </p:txBody>
      </p:sp>
      <p:sp>
        <p:nvSpPr>
          <p:cNvPr id="12" name="Step2">
            <a:extLst>
              <a:ext uri="{FF2B5EF4-FFF2-40B4-BE49-F238E27FC236}">
                <a16:creationId xmlns:a16="http://schemas.microsoft.com/office/drawing/2014/main" id="{82240A23-31E8-02EE-6535-F6B75424ED34}"/>
              </a:ext>
            </a:extLst>
          </p:cNvPr>
          <p:cNvSpPr/>
          <p:nvPr/>
        </p:nvSpPr>
        <p:spPr>
          <a:xfrm>
            <a:off x="2413000" y="1333500"/>
            <a:ext cx="1651000" cy="2032000"/>
          </a:xfrm>
          <a:prstGeom prst="roundRect">
            <a:avLst>
              <a:gd name="adj" fmla="val 7000"/>
            </a:avLst>
          </a:prstGeom>
          <a:solidFill>
            <a:srgbClr val="EEEDFE"/>
          </a:solidFill>
          <a:ln w="9525">
            <a:solidFill>
              <a:srgbClr val="AFA9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17D33C41-56A9-1C0F-EBD0-A0DD3C35D043}"/>
              </a:ext>
            </a:extLst>
          </p:cNvPr>
          <p:cNvSpPr/>
          <p:nvPr/>
        </p:nvSpPr>
        <p:spPr>
          <a:xfrm>
            <a:off x="2540000" y="1460500"/>
            <a:ext cx="330200" cy="330200"/>
          </a:xfrm>
          <a:prstGeom prst="ellipse">
            <a:avLst/>
          </a:prstGeom>
          <a:solidFill>
            <a:srgbClr val="534AB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endParaRPr kumimoji="1" lang="ja-JP" altLang="en-US" sz="1200" b="1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tep2Text">
            <a:extLst>
              <a:ext uri="{FF2B5EF4-FFF2-40B4-BE49-F238E27FC236}">
                <a16:creationId xmlns:a16="http://schemas.microsoft.com/office/drawing/2014/main" id="{DE386E8A-2C93-CFE0-B769-944E46719AFE}"/>
              </a:ext>
            </a:extLst>
          </p:cNvPr>
          <p:cNvSpPr txBox="1"/>
          <p:nvPr/>
        </p:nvSpPr>
        <p:spPr>
          <a:xfrm>
            <a:off x="2489200" y="1866900"/>
            <a:ext cx="1498600" cy="369332"/>
          </a:xfrm>
          <a:prstGeom prst="rect">
            <a:avLst/>
          </a:prstGeom>
          <a:noFill/>
        </p:spPr>
        <p:txBody>
          <a:bodyPr vert="horz" wrap="square" lIns="25400" rIns="25400" rtlCol="0">
            <a:no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1200" b="1">
                <a:solidFill>
                  <a:srgbClr val="3C348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手配状況確認</a:t>
            </a:r>
          </a:p>
          <a:p>
            <a:pPr>
              <a:spcAft>
                <a:spcPts val="200"/>
              </a:spcAft>
            </a:pPr>
            <a:r>
              <a:rPr kumimoji="1" lang="ja-JP" altLang="en-US" sz="1050">
                <a:solidFill>
                  <a:srgbClr val="534AB7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担当：熊谷</a:t>
            </a:r>
          </a:p>
        </p:txBody>
      </p:sp>
      <p:sp>
        <p:nvSpPr>
          <p:cNvPr id="15" name="Step3">
            <a:extLst>
              <a:ext uri="{FF2B5EF4-FFF2-40B4-BE49-F238E27FC236}">
                <a16:creationId xmlns:a16="http://schemas.microsoft.com/office/drawing/2014/main" id="{F41FA016-EC3E-C0D0-C600-E061CE819942}"/>
              </a:ext>
            </a:extLst>
          </p:cNvPr>
          <p:cNvSpPr/>
          <p:nvPr/>
        </p:nvSpPr>
        <p:spPr>
          <a:xfrm>
            <a:off x="4318000" y="1333500"/>
            <a:ext cx="1651000" cy="2032000"/>
          </a:xfrm>
          <a:prstGeom prst="roundRect">
            <a:avLst>
              <a:gd name="adj" fmla="val 7000"/>
            </a:avLst>
          </a:prstGeom>
          <a:solidFill>
            <a:srgbClr val="EEEDFE"/>
          </a:solidFill>
          <a:ln w="9525">
            <a:solidFill>
              <a:srgbClr val="AFA9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EC5A5EE8-ADC8-AB25-E054-4B565D1436CF}"/>
              </a:ext>
            </a:extLst>
          </p:cNvPr>
          <p:cNvSpPr/>
          <p:nvPr/>
        </p:nvSpPr>
        <p:spPr>
          <a:xfrm>
            <a:off x="4445000" y="1460500"/>
            <a:ext cx="330200" cy="330200"/>
          </a:xfrm>
          <a:prstGeom prst="ellipse">
            <a:avLst/>
          </a:prstGeom>
          <a:solidFill>
            <a:srgbClr val="534AB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endParaRPr kumimoji="1" lang="ja-JP" altLang="en-US" sz="1200" b="1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Step3Text">
            <a:extLst>
              <a:ext uri="{FF2B5EF4-FFF2-40B4-BE49-F238E27FC236}">
                <a16:creationId xmlns:a16="http://schemas.microsoft.com/office/drawing/2014/main" id="{51363B41-3B28-CF7B-7615-6A3AFC8BB397}"/>
              </a:ext>
            </a:extLst>
          </p:cNvPr>
          <p:cNvSpPr txBox="1"/>
          <p:nvPr/>
        </p:nvSpPr>
        <p:spPr>
          <a:xfrm>
            <a:off x="4394200" y="1866900"/>
            <a:ext cx="1498600" cy="369332"/>
          </a:xfrm>
          <a:prstGeom prst="rect">
            <a:avLst/>
          </a:prstGeom>
          <a:noFill/>
        </p:spPr>
        <p:txBody>
          <a:bodyPr vert="horz" wrap="square" lIns="25400" rIns="25400" rtlCol="0">
            <a:no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1200" b="1">
                <a:solidFill>
                  <a:srgbClr val="3C348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生産管理担当者へ納期回答入力依頼</a:t>
            </a:r>
          </a:p>
          <a:p>
            <a:pPr>
              <a:spcAft>
                <a:spcPts val="200"/>
              </a:spcAft>
            </a:pPr>
            <a:r>
              <a:rPr kumimoji="1" lang="ja-JP" altLang="en-US" sz="1050">
                <a:solidFill>
                  <a:srgbClr val="534AB7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熊谷 → 白滝</a:t>
            </a:r>
          </a:p>
        </p:txBody>
      </p:sp>
      <p:sp>
        <p:nvSpPr>
          <p:cNvPr id="18" name="Step4">
            <a:extLst>
              <a:ext uri="{FF2B5EF4-FFF2-40B4-BE49-F238E27FC236}">
                <a16:creationId xmlns:a16="http://schemas.microsoft.com/office/drawing/2014/main" id="{ACE020B9-DFE2-F96D-1024-FB5BCAE0A8E2}"/>
              </a:ext>
            </a:extLst>
          </p:cNvPr>
          <p:cNvSpPr/>
          <p:nvPr/>
        </p:nvSpPr>
        <p:spPr>
          <a:xfrm>
            <a:off x="6223000" y="1333500"/>
            <a:ext cx="1651000" cy="2032000"/>
          </a:xfrm>
          <a:prstGeom prst="roundRect">
            <a:avLst>
              <a:gd name="adj" fmla="val 7000"/>
            </a:avLst>
          </a:prstGeom>
          <a:solidFill>
            <a:srgbClr val="E1F5EE"/>
          </a:solidFill>
          <a:ln w="9525">
            <a:solidFill>
              <a:srgbClr val="5DCA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DA7C575A-A770-5FC2-1B0A-851CFBD486A9}"/>
              </a:ext>
            </a:extLst>
          </p:cNvPr>
          <p:cNvSpPr/>
          <p:nvPr/>
        </p:nvSpPr>
        <p:spPr>
          <a:xfrm>
            <a:off x="6350000" y="1460500"/>
            <a:ext cx="330200" cy="330200"/>
          </a:xfrm>
          <a:prstGeom prst="ellipse">
            <a:avLst/>
          </a:prstGeom>
          <a:solidFill>
            <a:srgbClr val="0F6E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endParaRPr kumimoji="1" lang="ja-JP" altLang="en-US" sz="1200" b="1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tep4Text">
            <a:extLst>
              <a:ext uri="{FF2B5EF4-FFF2-40B4-BE49-F238E27FC236}">
                <a16:creationId xmlns:a16="http://schemas.microsoft.com/office/drawing/2014/main" id="{E25FAFBD-66E1-377A-0852-BF068415BA61}"/>
              </a:ext>
            </a:extLst>
          </p:cNvPr>
          <p:cNvSpPr txBox="1"/>
          <p:nvPr/>
        </p:nvSpPr>
        <p:spPr>
          <a:xfrm>
            <a:off x="6299200" y="1866900"/>
            <a:ext cx="1498600" cy="369332"/>
          </a:xfrm>
          <a:prstGeom prst="rect">
            <a:avLst/>
          </a:prstGeom>
          <a:noFill/>
        </p:spPr>
        <p:txBody>
          <a:bodyPr vert="horz" wrap="square" lIns="25400" rIns="25400" rtlCol="0">
            <a:no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1200" b="1">
                <a:solidFill>
                  <a:srgbClr val="08504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納期未回答分の識別</a:t>
            </a:r>
          </a:p>
          <a:p>
            <a:pPr>
              <a:spcAft>
                <a:spcPts val="200"/>
              </a:spcAft>
            </a:pPr>
            <a:r>
              <a:rPr kumimoji="1" lang="ja-JP" altLang="en-US" sz="1050">
                <a:solidFill>
                  <a:srgbClr val="0F6E5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担当：白滝（熊谷）</a:t>
            </a:r>
          </a:p>
        </p:txBody>
      </p:sp>
      <p:sp>
        <p:nvSpPr>
          <p:cNvPr id="21" name="Step5">
            <a:extLst>
              <a:ext uri="{FF2B5EF4-FFF2-40B4-BE49-F238E27FC236}">
                <a16:creationId xmlns:a16="http://schemas.microsoft.com/office/drawing/2014/main" id="{C363D1D2-493B-ED27-5D3B-FB176E69441A}"/>
              </a:ext>
            </a:extLst>
          </p:cNvPr>
          <p:cNvSpPr/>
          <p:nvPr/>
        </p:nvSpPr>
        <p:spPr>
          <a:xfrm>
            <a:off x="8128000" y="1333500"/>
            <a:ext cx="1651000" cy="2032000"/>
          </a:xfrm>
          <a:prstGeom prst="roundRect">
            <a:avLst>
              <a:gd name="adj" fmla="val 7000"/>
            </a:avLst>
          </a:prstGeom>
          <a:solidFill>
            <a:srgbClr val="E1F5EE"/>
          </a:solidFill>
          <a:ln w="9525">
            <a:solidFill>
              <a:srgbClr val="5DCA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1BDD734-1489-83F8-23A6-C17AD1E6A5A7}"/>
              </a:ext>
            </a:extLst>
          </p:cNvPr>
          <p:cNvSpPr/>
          <p:nvPr/>
        </p:nvSpPr>
        <p:spPr>
          <a:xfrm>
            <a:off x="8255000" y="1460500"/>
            <a:ext cx="330200" cy="330200"/>
          </a:xfrm>
          <a:prstGeom prst="ellipse">
            <a:avLst/>
          </a:prstGeom>
          <a:solidFill>
            <a:srgbClr val="0F6E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  <a:endParaRPr kumimoji="1" lang="ja-JP" altLang="en-US" sz="1200" b="1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tep5Text">
            <a:extLst>
              <a:ext uri="{FF2B5EF4-FFF2-40B4-BE49-F238E27FC236}">
                <a16:creationId xmlns:a16="http://schemas.microsoft.com/office/drawing/2014/main" id="{2B184590-96C3-ADEB-2202-BC8AA2E0F061}"/>
              </a:ext>
            </a:extLst>
          </p:cNvPr>
          <p:cNvSpPr txBox="1"/>
          <p:nvPr/>
        </p:nvSpPr>
        <p:spPr>
          <a:xfrm>
            <a:off x="8204200" y="1866900"/>
            <a:ext cx="1498600" cy="369332"/>
          </a:xfrm>
          <a:prstGeom prst="rect">
            <a:avLst/>
          </a:prstGeom>
          <a:noFill/>
        </p:spPr>
        <p:txBody>
          <a:bodyPr vert="horz" wrap="square" lIns="25400" rIns="25400" rtlCol="0">
            <a:no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1200" b="1">
                <a:solidFill>
                  <a:srgbClr val="08504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資材係へ納期回答取得依頼</a:t>
            </a:r>
          </a:p>
          <a:p>
            <a:pPr>
              <a:spcAft>
                <a:spcPts val="200"/>
              </a:spcAft>
            </a:pPr>
            <a:r>
              <a:rPr kumimoji="1" lang="ja-JP" altLang="en-US" sz="1050">
                <a:solidFill>
                  <a:srgbClr val="0F6E5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白滝（熊谷）→ 小野崎</a:t>
            </a:r>
          </a:p>
        </p:txBody>
      </p:sp>
      <p:sp>
        <p:nvSpPr>
          <p:cNvPr id="24" name="Step6">
            <a:extLst>
              <a:ext uri="{FF2B5EF4-FFF2-40B4-BE49-F238E27FC236}">
                <a16:creationId xmlns:a16="http://schemas.microsoft.com/office/drawing/2014/main" id="{F07D41C9-FF1B-CFC7-1900-0E9C36FFBB37}"/>
              </a:ext>
            </a:extLst>
          </p:cNvPr>
          <p:cNvSpPr/>
          <p:nvPr/>
        </p:nvSpPr>
        <p:spPr>
          <a:xfrm>
            <a:off x="10033000" y="1333500"/>
            <a:ext cx="1651000" cy="2032000"/>
          </a:xfrm>
          <a:prstGeom prst="roundRect">
            <a:avLst>
              <a:gd name="adj" fmla="val 7000"/>
            </a:avLst>
          </a:prstGeom>
          <a:solidFill>
            <a:srgbClr val="FAECE7"/>
          </a:solidFill>
          <a:ln w="9525">
            <a:solidFill>
              <a:srgbClr val="F099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87E85831-DDD7-BA81-DC0A-6BB806996F9D}"/>
              </a:ext>
            </a:extLst>
          </p:cNvPr>
          <p:cNvSpPr/>
          <p:nvPr/>
        </p:nvSpPr>
        <p:spPr>
          <a:xfrm>
            <a:off x="10160000" y="1460500"/>
            <a:ext cx="330200" cy="330200"/>
          </a:xfrm>
          <a:prstGeom prst="ellipse">
            <a:avLst/>
          </a:prstGeom>
          <a:solidFill>
            <a:srgbClr val="993C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r>
            <a:endParaRPr kumimoji="1" lang="ja-JP" altLang="en-US" sz="1200" b="1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tep6Text">
            <a:extLst>
              <a:ext uri="{FF2B5EF4-FFF2-40B4-BE49-F238E27FC236}">
                <a16:creationId xmlns:a16="http://schemas.microsoft.com/office/drawing/2014/main" id="{6C6D27E3-BD26-799F-7AC7-9E43BF88D71C}"/>
              </a:ext>
            </a:extLst>
          </p:cNvPr>
          <p:cNvSpPr txBox="1"/>
          <p:nvPr/>
        </p:nvSpPr>
        <p:spPr>
          <a:xfrm>
            <a:off x="10109200" y="1866900"/>
            <a:ext cx="1498600" cy="369332"/>
          </a:xfrm>
          <a:prstGeom prst="rect">
            <a:avLst/>
          </a:prstGeom>
          <a:noFill/>
        </p:spPr>
        <p:txBody>
          <a:bodyPr vert="horz" wrap="square" lIns="25400" rIns="25400" rtlCol="0">
            <a:noAutofit/>
          </a:bodyPr>
          <a:lstStyle/>
          <a:p>
            <a:pPr>
              <a:spcAft>
                <a:spcPts val="600"/>
              </a:spcAft>
            </a:pPr>
            <a:r>
              <a:rPr kumimoji="1" lang="zh-TW" altLang="en-US" sz="1200" b="1">
                <a:solidFill>
                  <a:srgbClr val="712B1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納期回答確認</a:t>
            </a:r>
          </a:p>
          <a:p>
            <a:pPr>
              <a:spcAft>
                <a:spcPts val="200"/>
              </a:spcAft>
            </a:pPr>
            <a:r>
              <a:rPr kumimoji="1" lang="zh-TW" altLang="en-US" sz="1050">
                <a:solidFill>
                  <a:srgbClr val="993C1D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担当：小野崎</a:t>
            </a:r>
            <a:endParaRPr kumimoji="1" lang="ja-JP" altLang="en-US" sz="1050">
              <a:solidFill>
                <a:srgbClr val="993C1D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Step7">
            <a:extLst>
              <a:ext uri="{FF2B5EF4-FFF2-40B4-BE49-F238E27FC236}">
                <a16:creationId xmlns:a16="http://schemas.microsoft.com/office/drawing/2014/main" id="{D4ED5195-D069-0100-095E-5C3F33832F99}"/>
              </a:ext>
            </a:extLst>
          </p:cNvPr>
          <p:cNvSpPr/>
          <p:nvPr/>
        </p:nvSpPr>
        <p:spPr>
          <a:xfrm>
            <a:off x="508000" y="3937000"/>
            <a:ext cx="1651000" cy="2032000"/>
          </a:xfrm>
          <a:prstGeom prst="roundRect">
            <a:avLst>
              <a:gd name="adj" fmla="val 7000"/>
            </a:avLst>
          </a:prstGeom>
          <a:solidFill>
            <a:srgbClr val="FAECE7"/>
          </a:solidFill>
          <a:ln w="9525">
            <a:solidFill>
              <a:srgbClr val="F099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289EBDAE-C7E8-C9C2-12E8-F430D43D63FE}"/>
              </a:ext>
            </a:extLst>
          </p:cNvPr>
          <p:cNvSpPr/>
          <p:nvPr/>
        </p:nvSpPr>
        <p:spPr>
          <a:xfrm>
            <a:off x="635000" y="4064000"/>
            <a:ext cx="330200" cy="330200"/>
          </a:xfrm>
          <a:prstGeom prst="ellipse">
            <a:avLst/>
          </a:prstGeom>
          <a:solidFill>
            <a:srgbClr val="993C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  <a:endParaRPr kumimoji="1" lang="ja-JP" altLang="en-US" sz="1200" b="1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Step7Text">
            <a:extLst>
              <a:ext uri="{FF2B5EF4-FFF2-40B4-BE49-F238E27FC236}">
                <a16:creationId xmlns:a16="http://schemas.microsoft.com/office/drawing/2014/main" id="{7F0AD29B-57DA-246F-CC65-DE30712FE6C8}"/>
              </a:ext>
            </a:extLst>
          </p:cNvPr>
          <p:cNvSpPr txBox="1"/>
          <p:nvPr/>
        </p:nvSpPr>
        <p:spPr>
          <a:xfrm>
            <a:off x="584200" y="4470400"/>
            <a:ext cx="1498600" cy="369332"/>
          </a:xfrm>
          <a:prstGeom prst="rect">
            <a:avLst/>
          </a:prstGeom>
          <a:noFill/>
        </p:spPr>
        <p:txBody>
          <a:bodyPr vert="horz" wrap="square" lIns="25400" rIns="25400" rtlCol="0">
            <a:no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1200" b="1">
                <a:solidFill>
                  <a:srgbClr val="712B1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納期回答を生産管理担当者へ提出</a:t>
            </a:r>
          </a:p>
          <a:p>
            <a:pPr>
              <a:spcAft>
                <a:spcPts val="200"/>
              </a:spcAft>
            </a:pPr>
            <a:r>
              <a:rPr kumimoji="1" lang="ja-JP" altLang="en-US" sz="1050">
                <a:solidFill>
                  <a:srgbClr val="993C1D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担当：小野崎</a:t>
            </a:r>
          </a:p>
          <a:p>
            <a:pPr>
              <a:spcAft>
                <a:spcPts val="200"/>
              </a:spcAft>
            </a:pPr>
            <a:r>
              <a:rPr kumimoji="1" lang="ja-JP" altLang="en-US" sz="1050" b="1">
                <a:solidFill>
                  <a:srgbClr val="A32D2D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期限：土曜 </a:t>
            </a:r>
            <a:r>
              <a:rPr kumimoji="1" lang="en-US" altLang="ja-JP" sz="1050" b="1">
                <a:solidFill>
                  <a:srgbClr val="A32D2D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or </a:t>
            </a:r>
            <a:r>
              <a:rPr kumimoji="1" lang="ja-JP" altLang="en-US" sz="1050" b="1">
                <a:solidFill>
                  <a:srgbClr val="A32D2D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翌週火曜午前</a:t>
            </a:r>
          </a:p>
          <a:p>
            <a:pPr>
              <a:spcAft>
                <a:spcPts val="200"/>
              </a:spcAft>
            </a:pPr>
            <a:r>
              <a:rPr kumimoji="1" lang="ja-JP" altLang="en-US" sz="1050">
                <a:solidFill>
                  <a:srgbClr val="993C1D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宛先：白滝・熊谷 必須（他必要な方）</a:t>
            </a:r>
          </a:p>
        </p:txBody>
      </p:sp>
      <p:sp>
        <p:nvSpPr>
          <p:cNvPr id="30" name="Step8">
            <a:extLst>
              <a:ext uri="{FF2B5EF4-FFF2-40B4-BE49-F238E27FC236}">
                <a16:creationId xmlns:a16="http://schemas.microsoft.com/office/drawing/2014/main" id="{3EE30B9D-635D-16DE-4091-3A2E59099759}"/>
              </a:ext>
            </a:extLst>
          </p:cNvPr>
          <p:cNvSpPr/>
          <p:nvPr/>
        </p:nvSpPr>
        <p:spPr>
          <a:xfrm>
            <a:off x="2413000" y="3937000"/>
            <a:ext cx="1651000" cy="2032000"/>
          </a:xfrm>
          <a:prstGeom prst="roundRect">
            <a:avLst>
              <a:gd name="adj" fmla="val 7000"/>
            </a:avLst>
          </a:prstGeom>
          <a:solidFill>
            <a:srgbClr val="E1F5EE"/>
          </a:solidFill>
          <a:ln w="9525">
            <a:solidFill>
              <a:srgbClr val="5DCA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98C445C2-C026-EA1A-9292-78877EBB32BD}"/>
              </a:ext>
            </a:extLst>
          </p:cNvPr>
          <p:cNvSpPr/>
          <p:nvPr/>
        </p:nvSpPr>
        <p:spPr>
          <a:xfrm>
            <a:off x="2540000" y="4064000"/>
            <a:ext cx="330200" cy="330200"/>
          </a:xfrm>
          <a:prstGeom prst="ellipse">
            <a:avLst/>
          </a:prstGeom>
          <a:solidFill>
            <a:srgbClr val="0F6E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</a:t>
            </a:r>
            <a:endParaRPr kumimoji="1" lang="ja-JP" altLang="en-US" sz="1200" b="1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tep8Text">
            <a:extLst>
              <a:ext uri="{FF2B5EF4-FFF2-40B4-BE49-F238E27FC236}">
                <a16:creationId xmlns:a16="http://schemas.microsoft.com/office/drawing/2014/main" id="{BD3E9F6F-C8EC-7AF1-4B54-C2996C3736A3}"/>
              </a:ext>
            </a:extLst>
          </p:cNvPr>
          <p:cNvSpPr txBox="1"/>
          <p:nvPr/>
        </p:nvSpPr>
        <p:spPr>
          <a:xfrm>
            <a:off x="2489200" y="4470400"/>
            <a:ext cx="1498600" cy="369332"/>
          </a:xfrm>
          <a:prstGeom prst="rect">
            <a:avLst/>
          </a:prstGeom>
          <a:noFill/>
        </p:spPr>
        <p:txBody>
          <a:bodyPr vert="horz" wrap="square" lIns="25400" rIns="25400" rtlCol="0">
            <a:no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1200" b="1">
                <a:solidFill>
                  <a:srgbClr val="08504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客先への納期回答入力</a:t>
            </a:r>
          </a:p>
          <a:p>
            <a:pPr>
              <a:spcAft>
                <a:spcPts val="200"/>
              </a:spcAft>
            </a:pPr>
            <a:r>
              <a:rPr kumimoji="1" lang="ja-JP" altLang="en-US" sz="1050">
                <a:solidFill>
                  <a:srgbClr val="0F6E5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担当：白滝（熊谷）</a:t>
            </a:r>
          </a:p>
        </p:txBody>
      </p:sp>
      <p:sp>
        <p:nvSpPr>
          <p:cNvPr id="33" name="Step9">
            <a:extLst>
              <a:ext uri="{FF2B5EF4-FFF2-40B4-BE49-F238E27FC236}">
                <a16:creationId xmlns:a16="http://schemas.microsoft.com/office/drawing/2014/main" id="{496589B7-0D08-AB2E-D620-A43F4BB34564}"/>
              </a:ext>
            </a:extLst>
          </p:cNvPr>
          <p:cNvSpPr/>
          <p:nvPr/>
        </p:nvSpPr>
        <p:spPr>
          <a:xfrm>
            <a:off x="4318000" y="3937000"/>
            <a:ext cx="1651000" cy="2032000"/>
          </a:xfrm>
          <a:prstGeom prst="roundRect">
            <a:avLst>
              <a:gd name="adj" fmla="val 7000"/>
            </a:avLst>
          </a:prstGeom>
          <a:solidFill>
            <a:srgbClr val="E1F5EE"/>
          </a:solidFill>
          <a:ln w="9525">
            <a:solidFill>
              <a:srgbClr val="5DCA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B4BB1385-1E90-8442-2D68-79A51F9B9600}"/>
              </a:ext>
            </a:extLst>
          </p:cNvPr>
          <p:cNvSpPr/>
          <p:nvPr/>
        </p:nvSpPr>
        <p:spPr>
          <a:xfrm>
            <a:off x="4445000" y="4064000"/>
            <a:ext cx="330200" cy="330200"/>
          </a:xfrm>
          <a:prstGeom prst="ellipse">
            <a:avLst/>
          </a:prstGeom>
          <a:solidFill>
            <a:srgbClr val="0F6E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9</a:t>
            </a:r>
            <a:endParaRPr kumimoji="1" lang="ja-JP" altLang="en-US" sz="1200" b="1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tep9Text">
            <a:extLst>
              <a:ext uri="{FF2B5EF4-FFF2-40B4-BE49-F238E27FC236}">
                <a16:creationId xmlns:a16="http://schemas.microsoft.com/office/drawing/2014/main" id="{1A53FC1B-34C1-FF6A-740D-6A70A2B60DBD}"/>
              </a:ext>
            </a:extLst>
          </p:cNvPr>
          <p:cNvSpPr txBox="1"/>
          <p:nvPr/>
        </p:nvSpPr>
        <p:spPr>
          <a:xfrm>
            <a:off x="4394200" y="4470400"/>
            <a:ext cx="1498600" cy="369332"/>
          </a:xfrm>
          <a:prstGeom prst="rect">
            <a:avLst/>
          </a:prstGeom>
          <a:noFill/>
        </p:spPr>
        <p:txBody>
          <a:bodyPr vert="horz" wrap="square" lIns="25400" rIns="25400" rtlCol="0">
            <a:no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1200" b="1">
                <a:solidFill>
                  <a:srgbClr val="08504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熊谷へ提出</a:t>
            </a:r>
          </a:p>
          <a:p>
            <a:pPr>
              <a:spcAft>
                <a:spcPts val="200"/>
              </a:spcAft>
            </a:pPr>
            <a:r>
              <a:rPr kumimoji="1" lang="ja-JP" altLang="en-US" sz="1050">
                <a:solidFill>
                  <a:srgbClr val="0F6E5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担当：白滝（熊谷）</a:t>
            </a:r>
          </a:p>
          <a:p>
            <a:pPr>
              <a:spcAft>
                <a:spcPts val="200"/>
              </a:spcAft>
            </a:pPr>
            <a:r>
              <a:rPr kumimoji="1" lang="ja-JP" altLang="en-US" sz="1050" b="1">
                <a:solidFill>
                  <a:srgbClr val="A32D2D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期限：毎週火曜 </a:t>
            </a:r>
            <a:r>
              <a:rPr kumimoji="1" lang="en-US" altLang="ja-JP" sz="1050" b="1">
                <a:solidFill>
                  <a:srgbClr val="A32D2D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17:00</a:t>
            </a:r>
            <a:endParaRPr kumimoji="1" lang="ja-JP" altLang="en-US" sz="1050" b="1">
              <a:solidFill>
                <a:srgbClr val="A32D2D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Step10">
            <a:extLst>
              <a:ext uri="{FF2B5EF4-FFF2-40B4-BE49-F238E27FC236}">
                <a16:creationId xmlns:a16="http://schemas.microsoft.com/office/drawing/2014/main" id="{64E655FC-D030-8643-1B63-7DAAFF0879D7}"/>
              </a:ext>
            </a:extLst>
          </p:cNvPr>
          <p:cNvSpPr/>
          <p:nvPr/>
        </p:nvSpPr>
        <p:spPr>
          <a:xfrm>
            <a:off x="6223000" y="3937000"/>
            <a:ext cx="1651000" cy="2032000"/>
          </a:xfrm>
          <a:prstGeom prst="roundRect">
            <a:avLst>
              <a:gd name="adj" fmla="val 7000"/>
            </a:avLst>
          </a:prstGeom>
          <a:solidFill>
            <a:srgbClr val="EEEDFE"/>
          </a:solidFill>
          <a:ln w="9525">
            <a:solidFill>
              <a:srgbClr val="AFA9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A0173A24-0784-7B57-7647-8D7D9F3E40BD}"/>
              </a:ext>
            </a:extLst>
          </p:cNvPr>
          <p:cNvSpPr/>
          <p:nvPr/>
        </p:nvSpPr>
        <p:spPr>
          <a:xfrm>
            <a:off x="6350000" y="4064000"/>
            <a:ext cx="330200" cy="330200"/>
          </a:xfrm>
          <a:prstGeom prst="ellipse">
            <a:avLst/>
          </a:prstGeom>
          <a:solidFill>
            <a:srgbClr val="534AB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r>
            <a:endParaRPr kumimoji="1" lang="ja-JP" altLang="en-US" sz="1200" b="1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Step10Text">
            <a:extLst>
              <a:ext uri="{FF2B5EF4-FFF2-40B4-BE49-F238E27FC236}">
                <a16:creationId xmlns:a16="http://schemas.microsoft.com/office/drawing/2014/main" id="{BC0D3719-D601-3BBE-7F22-1349060E1E12}"/>
              </a:ext>
            </a:extLst>
          </p:cNvPr>
          <p:cNvSpPr txBox="1"/>
          <p:nvPr/>
        </p:nvSpPr>
        <p:spPr>
          <a:xfrm>
            <a:off x="6299200" y="4470400"/>
            <a:ext cx="1498600" cy="369332"/>
          </a:xfrm>
          <a:prstGeom prst="rect">
            <a:avLst/>
          </a:prstGeom>
          <a:noFill/>
        </p:spPr>
        <p:txBody>
          <a:bodyPr vert="horz" wrap="square" lIns="25400" rIns="25400" rtlCol="0">
            <a:no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1200" b="1">
                <a:solidFill>
                  <a:srgbClr val="3C348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アマダサプライヤーポータルへ納期回答アップロード</a:t>
            </a:r>
          </a:p>
          <a:p>
            <a:pPr>
              <a:spcAft>
                <a:spcPts val="200"/>
              </a:spcAft>
            </a:pPr>
            <a:r>
              <a:rPr kumimoji="1" lang="ja-JP" altLang="en-US" sz="1050">
                <a:solidFill>
                  <a:srgbClr val="534AB7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担当：熊谷</a:t>
            </a:r>
          </a:p>
          <a:p>
            <a:pPr>
              <a:spcAft>
                <a:spcPts val="200"/>
              </a:spcAft>
            </a:pPr>
            <a:r>
              <a:rPr kumimoji="1" lang="ja-JP" altLang="en-US" sz="1050" b="1">
                <a:solidFill>
                  <a:srgbClr val="A32D2D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期限：毎週火曜</a:t>
            </a:r>
          </a:p>
        </p:txBody>
      </p:sp>
      <p:sp>
        <p:nvSpPr>
          <p:cNvPr id="39" name="Step11">
            <a:extLst>
              <a:ext uri="{FF2B5EF4-FFF2-40B4-BE49-F238E27FC236}">
                <a16:creationId xmlns:a16="http://schemas.microsoft.com/office/drawing/2014/main" id="{DB60287A-B5E4-398B-FD0C-B7A8AFA73FB6}"/>
              </a:ext>
            </a:extLst>
          </p:cNvPr>
          <p:cNvSpPr/>
          <p:nvPr/>
        </p:nvSpPr>
        <p:spPr>
          <a:xfrm>
            <a:off x="8128000" y="3937000"/>
            <a:ext cx="1651000" cy="2032000"/>
          </a:xfrm>
          <a:prstGeom prst="roundRect">
            <a:avLst>
              <a:gd name="adj" fmla="val 7000"/>
            </a:avLst>
          </a:prstGeom>
          <a:solidFill>
            <a:srgbClr val="EEEDFE"/>
          </a:solidFill>
          <a:ln w="9525">
            <a:solidFill>
              <a:srgbClr val="AFA9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77332220-3324-C50E-3EA0-12ACD05F751A}"/>
              </a:ext>
            </a:extLst>
          </p:cNvPr>
          <p:cNvSpPr/>
          <p:nvPr/>
        </p:nvSpPr>
        <p:spPr>
          <a:xfrm>
            <a:off x="8255000" y="4064000"/>
            <a:ext cx="330200" cy="330200"/>
          </a:xfrm>
          <a:prstGeom prst="ellipse">
            <a:avLst/>
          </a:prstGeom>
          <a:solidFill>
            <a:srgbClr val="534AB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  <a:endParaRPr kumimoji="1" lang="ja-JP" altLang="en-US" sz="1200" b="1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Step11Text">
            <a:extLst>
              <a:ext uri="{FF2B5EF4-FFF2-40B4-BE49-F238E27FC236}">
                <a16:creationId xmlns:a16="http://schemas.microsoft.com/office/drawing/2014/main" id="{788AB815-1E41-2AEC-3EF3-A7F764A8FE6E}"/>
              </a:ext>
            </a:extLst>
          </p:cNvPr>
          <p:cNvSpPr txBox="1"/>
          <p:nvPr/>
        </p:nvSpPr>
        <p:spPr>
          <a:xfrm>
            <a:off x="8204200" y="4470400"/>
            <a:ext cx="1498600" cy="369332"/>
          </a:xfrm>
          <a:prstGeom prst="rect">
            <a:avLst/>
          </a:prstGeom>
          <a:noFill/>
        </p:spPr>
        <p:txBody>
          <a:bodyPr vert="horz" wrap="square" lIns="25400" rIns="25400" rtlCol="0">
            <a:no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1200" b="1">
                <a:solidFill>
                  <a:srgbClr val="3C348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納期回答率取得</a:t>
            </a:r>
          </a:p>
          <a:p>
            <a:pPr>
              <a:spcAft>
                <a:spcPts val="200"/>
              </a:spcAft>
            </a:pPr>
            <a:r>
              <a:rPr kumimoji="1" lang="ja-JP" altLang="en-US" sz="1050">
                <a:solidFill>
                  <a:srgbClr val="534AB7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担当：熊谷</a:t>
            </a:r>
          </a:p>
          <a:p>
            <a:pPr>
              <a:spcAft>
                <a:spcPts val="200"/>
              </a:spcAft>
            </a:pPr>
            <a:r>
              <a:rPr kumimoji="1" lang="ja-JP" altLang="en-US" sz="1050" b="1">
                <a:solidFill>
                  <a:srgbClr val="A32D2D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期限：毎週水曜</a:t>
            </a: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E15A80E0-2852-A3C0-DBBE-246CCB8773D3}"/>
              </a:ext>
            </a:extLst>
          </p:cNvPr>
          <p:cNvCxnSpPr/>
          <p:nvPr/>
        </p:nvCxnSpPr>
        <p:spPr>
          <a:xfrm>
            <a:off x="2197100" y="2349500"/>
            <a:ext cx="177800" cy="0"/>
          </a:xfrm>
          <a:prstGeom prst="line">
            <a:avLst/>
          </a:prstGeom>
          <a:ln w="22225">
            <a:solidFill>
              <a:srgbClr val="888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01DBBFA3-675A-0FA4-727B-C0C37B611712}"/>
              </a:ext>
            </a:extLst>
          </p:cNvPr>
          <p:cNvCxnSpPr/>
          <p:nvPr/>
        </p:nvCxnSpPr>
        <p:spPr>
          <a:xfrm>
            <a:off x="4102100" y="2349500"/>
            <a:ext cx="177800" cy="0"/>
          </a:xfrm>
          <a:prstGeom prst="line">
            <a:avLst/>
          </a:prstGeom>
          <a:ln w="22225">
            <a:solidFill>
              <a:srgbClr val="888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43F8D9A9-927C-2261-2058-8A1D64A33AF5}"/>
              </a:ext>
            </a:extLst>
          </p:cNvPr>
          <p:cNvCxnSpPr/>
          <p:nvPr/>
        </p:nvCxnSpPr>
        <p:spPr>
          <a:xfrm>
            <a:off x="6007100" y="2349500"/>
            <a:ext cx="177800" cy="0"/>
          </a:xfrm>
          <a:prstGeom prst="line">
            <a:avLst/>
          </a:prstGeom>
          <a:ln w="22225">
            <a:solidFill>
              <a:srgbClr val="888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43EBC780-7C67-C7C4-26A6-D8CB31DDA1E3}"/>
              </a:ext>
            </a:extLst>
          </p:cNvPr>
          <p:cNvCxnSpPr/>
          <p:nvPr/>
        </p:nvCxnSpPr>
        <p:spPr>
          <a:xfrm>
            <a:off x="7912100" y="2349500"/>
            <a:ext cx="177800" cy="0"/>
          </a:xfrm>
          <a:prstGeom prst="line">
            <a:avLst/>
          </a:prstGeom>
          <a:ln w="22225">
            <a:solidFill>
              <a:srgbClr val="888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98498986-DFCE-C2EF-6B7E-B1B5BF23907D}"/>
              </a:ext>
            </a:extLst>
          </p:cNvPr>
          <p:cNvCxnSpPr/>
          <p:nvPr/>
        </p:nvCxnSpPr>
        <p:spPr>
          <a:xfrm>
            <a:off x="9817100" y="2349500"/>
            <a:ext cx="177800" cy="0"/>
          </a:xfrm>
          <a:prstGeom prst="line">
            <a:avLst/>
          </a:prstGeom>
          <a:ln w="22225">
            <a:solidFill>
              <a:srgbClr val="888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1519ACE0-DA56-441C-8F94-493C9284DD72}"/>
              </a:ext>
            </a:extLst>
          </p:cNvPr>
          <p:cNvCxnSpPr/>
          <p:nvPr/>
        </p:nvCxnSpPr>
        <p:spPr>
          <a:xfrm>
            <a:off x="2197100" y="4953000"/>
            <a:ext cx="177800" cy="0"/>
          </a:xfrm>
          <a:prstGeom prst="line">
            <a:avLst/>
          </a:prstGeom>
          <a:ln w="22225">
            <a:solidFill>
              <a:srgbClr val="888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B891552B-9A5C-6737-20E6-ADEA7C7A0B05}"/>
              </a:ext>
            </a:extLst>
          </p:cNvPr>
          <p:cNvCxnSpPr/>
          <p:nvPr/>
        </p:nvCxnSpPr>
        <p:spPr>
          <a:xfrm>
            <a:off x="4102100" y="4953000"/>
            <a:ext cx="177800" cy="0"/>
          </a:xfrm>
          <a:prstGeom prst="line">
            <a:avLst/>
          </a:prstGeom>
          <a:ln w="22225">
            <a:solidFill>
              <a:srgbClr val="888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53E8FA47-7C1B-EFCC-CD9C-742E29EE94D5}"/>
              </a:ext>
            </a:extLst>
          </p:cNvPr>
          <p:cNvCxnSpPr/>
          <p:nvPr/>
        </p:nvCxnSpPr>
        <p:spPr>
          <a:xfrm>
            <a:off x="6007100" y="4953000"/>
            <a:ext cx="177800" cy="0"/>
          </a:xfrm>
          <a:prstGeom prst="line">
            <a:avLst/>
          </a:prstGeom>
          <a:ln w="22225">
            <a:solidFill>
              <a:srgbClr val="888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545B283C-E7BE-1AF5-C463-6937633E932F}"/>
              </a:ext>
            </a:extLst>
          </p:cNvPr>
          <p:cNvCxnSpPr/>
          <p:nvPr/>
        </p:nvCxnSpPr>
        <p:spPr>
          <a:xfrm>
            <a:off x="7912100" y="4953000"/>
            <a:ext cx="177800" cy="0"/>
          </a:xfrm>
          <a:prstGeom prst="line">
            <a:avLst/>
          </a:prstGeom>
          <a:ln w="22225">
            <a:solidFill>
              <a:srgbClr val="888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フリーフォーム: 図形 50">
            <a:extLst>
              <a:ext uri="{FF2B5EF4-FFF2-40B4-BE49-F238E27FC236}">
                <a16:creationId xmlns:a16="http://schemas.microsoft.com/office/drawing/2014/main" id="{15D9C3C2-6E27-0261-BD77-5C1C2A44C302}"/>
              </a:ext>
            </a:extLst>
          </p:cNvPr>
          <p:cNvSpPr/>
          <p:nvPr/>
        </p:nvSpPr>
        <p:spPr>
          <a:xfrm>
            <a:off x="1333500" y="3403600"/>
            <a:ext cx="9525001" cy="495301"/>
          </a:xfrm>
          <a:custGeom>
            <a:avLst/>
            <a:gdLst/>
            <a:ahLst/>
            <a:cxnLst/>
            <a:rect l="0" t="0" r="0" b="0"/>
            <a:pathLst>
              <a:path w="9525001" h="495301">
                <a:moveTo>
                  <a:pt x="9525000" y="0"/>
                </a:moveTo>
                <a:lnTo>
                  <a:pt x="9525000" y="247650"/>
                </a:lnTo>
                <a:lnTo>
                  <a:pt x="0" y="247650"/>
                </a:lnTo>
                <a:lnTo>
                  <a:pt x="0" y="495300"/>
                </a:lnTo>
              </a:path>
            </a:pathLst>
          </a:custGeom>
          <a:ln w="22225">
            <a:solidFill>
              <a:srgbClr val="888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四角形: 角を丸くする 51">
            <a:extLst>
              <a:ext uri="{FF2B5EF4-FFF2-40B4-BE49-F238E27FC236}">
                <a16:creationId xmlns:a16="http://schemas.microsoft.com/office/drawing/2014/main" id="{62ADE87A-6C5F-B6C6-1CF4-14CA8BAE2FF3}"/>
              </a:ext>
            </a:extLst>
          </p:cNvPr>
          <p:cNvSpPr/>
          <p:nvPr/>
        </p:nvSpPr>
        <p:spPr>
          <a:xfrm>
            <a:off x="10033000" y="3937000"/>
            <a:ext cx="1651000" cy="2032000"/>
          </a:xfrm>
          <a:prstGeom prst="roundRect">
            <a:avLst>
              <a:gd name="adj" fmla="val 7000"/>
            </a:avLst>
          </a:prstGeom>
          <a:solidFill>
            <a:srgbClr val="F1EFE8"/>
          </a:solidFill>
          <a:ln w="9525">
            <a:solidFill>
              <a:srgbClr val="B4B2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DeadlineSummary">
            <a:extLst>
              <a:ext uri="{FF2B5EF4-FFF2-40B4-BE49-F238E27FC236}">
                <a16:creationId xmlns:a16="http://schemas.microsoft.com/office/drawing/2014/main" id="{4FC11339-C2AE-FF0F-D610-7D72EDFE9EE1}"/>
              </a:ext>
            </a:extLst>
          </p:cNvPr>
          <p:cNvSpPr txBox="1"/>
          <p:nvPr/>
        </p:nvSpPr>
        <p:spPr>
          <a:xfrm>
            <a:off x="10109200" y="4064000"/>
            <a:ext cx="1498600" cy="369332"/>
          </a:xfrm>
          <a:prstGeom prst="rect">
            <a:avLst/>
          </a:prstGeom>
          <a:noFill/>
        </p:spPr>
        <p:txBody>
          <a:bodyPr vert="horz" wrap="square" lIns="50800" rIns="50800" rtlCol="0">
            <a:noAutofit/>
          </a:bodyPr>
          <a:lstStyle/>
          <a:p>
            <a:pPr>
              <a:spcAft>
                <a:spcPts val="800"/>
              </a:spcAft>
            </a:pPr>
            <a:r>
              <a:rPr kumimoji="1" lang="ja-JP" altLang="en-US" sz="1250" b="1">
                <a:solidFill>
                  <a:srgbClr val="2C2C2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期限まとめ</a:t>
            </a:r>
          </a:p>
          <a:p>
            <a:pPr>
              <a:spcAft>
                <a:spcPts val="600"/>
              </a:spcAft>
            </a:pPr>
            <a:r>
              <a:rPr kumimoji="1" lang="en-US" altLang="ja-JP" sz="1050">
                <a:solidFill>
                  <a:srgbClr val="44444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  </a:t>
            </a:r>
            <a:r>
              <a:rPr kumimoji="1" lang="ja-JP" altLang="en-US" sz="1050">
                <a:solidFill>
                  <a:srgbClr val="44444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土曜 </a:t>
            </a:r>
            <a:r>
              <a:rPr kumimoji="1" lang="en-US" altLang="ja-JP" sz="1050">
                <a:solidFill>
                  <a:srgbClr val="44444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or </a:t>
            </a:r>
            <a:r>
              <a:rPr kumimoji="1" lang="ja-JP" altLang="en-US" sz="1050">
                <a:solidFill>
                  <a:srgbClr val="44444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翌週火曜</a:t>
            </a:r>
            <a:r>
              <a:rPr kumimoji="1" lang="en-US" altLang="ja-JP" sz="1050">
                <a:solidFill>
                  <a:srgbClr val="44444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AM</a:t>
            </a:r>
          </a:p>
          <a:p>
            <a:pPr>
              <a:spcAft>
                <a:spcPts val="600"/>
              </a:spcAft>
            </a:pPr>
            <a:r>
              <a:rPr kumimoji="1" lang="en-US" altLang="ja-JP" sz="1050">
                <a:solidFill>
                  <a:srgbClr val="44444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9  </a:t>
            </a:r>
            <a:r>
              <a:rPr kumimoji="1" lang="ja-JP" altLang="en-US" sz="1050">
                <a:solidFill>
                  <a:srgbClr val="44444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毎週火曜 </a:t>
            </a:r>
            <a:r>
              <a:rPr kumimoji="1" lang="en-US" altLang="ja-JP" sz="1050">
                <a:solidFill>
                  <a:srgbClr val="44444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17:00</a:t>
            </a:r>
          </a:p>
          <a:p>
            <a:pPr>
              <a:spcAft>
                <a:spcPts val="600"/>
              </a:spcAft>
            </a:pPr>
            <a:r>
              <a:rPr kumimoji="1" lang="en-US" altLang="ja-JP" sz="1050">
                <a:solidFill>
                  <a:srgbClr val="44444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 </a:t>
            </a:r>
            <a:r>
              <a:rPr kumimoji="1" lang="ja-JP" altLang="en-US" sz="1050">
                <a:solidFill>
                  <a:srgbClr val="44444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毎週火曜</a:t>
            </a:r>
          </a:p>
          <a:p>
            <a:pPr>
              <a:spcAft>
                <a:spcPts val="600"/>
              </a:spcAft>
            </a:pPr>
            <a:r>
              <a:rPr kumimoji="1" lang="en-US" altLang="ja-JP" sz="1050">
                <a:solidFill>
                  <a:srgbClr val="44444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 </a:t>
            </a:r>
            <a:r>
              <a:rPr kumimoji="1" lang="ja-JP" altLang="en-US" sz="1050">
                <a:solidFill>
                  <a:srgbClr val="44444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毎週水曜</a:t>
            </a:r>
          </a:p>
        </p:txBody>
      </p:sp>
      <p:sp>
        <p:nvSpPr>
          <p:cNvPr id="54" name="AuthorDate">
            <a:extLst>
              <a:ext uri="{FF2B5EF4-FFF2-40B4-BE49-F238E27FC236}">
                <a16:creationId xmlns:a16="http://schemas.microsoft.com/office/drawing/2014/main" id="{F05F683F-D638-6B0E-10FD-C9E3FE2F6ED1}"/>
              </a:ext>
            </a:extLst>
          </p:cNvPr>
          <p:cNvSpPr txBox="1"/>
          <p:nvPr/>
        </p:nvSpPr>
        <p:spPr>
          <a:xfrm>
            <a:off x="6604000" y="6197600"/>
            <a:ext cx="5080000" cy="253916"/>
          </a:xfrm>
          <a:prstGeom prst="rect">
            <a:avLst/>
          </a:prstGeom>
          <a:noFill/>
        </p:spPr>
        <p:txBody>
          <a:bodyPr vert="horz" rIns="0" rtlCol="0">
            <a:spAutoFit/>
          </a:bodyPr>
          <a:lstStyle/>
          <a:p>
            <a:pPr algn="r"/>
            <a:r>
              <a:rPr kumimoji="1" lang="ja-JP" altLang="en-US" sz="1050">
                <a:solidFill>
                  <a:srgbClr val="5F5E5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作成者：熊谷　　作成日：</a:t>
            </a:r>
            <a:r>
              <a:rPr kumimoji="1" lang="en-US" altLang="ja-JP" sz="1050">
                <a:solidFill>
                  <a:srgbClr val="5F5E5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2026</a:t>
            </a:r>
            <a:r>
              <a:rPr kumimoji="1" lang="ja-JP" altLang="en-US" sz="1050">
                <a:solidFill>
                  <a:srgbClr val="5F5E5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年</a:t>
            </a:r>
            <a:r>
              <a:rPr kumimoji="1" lang="en-US" altLang="ja-JP" sz="1050">
                <a:solidFill>
                  <a:srgbClr val="5F5E5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r>
            <a:r>
              <a:rPr kumimoji="1" lang="ja-JP" altLang="en-US" sz="1050">
                <a:solidFill>
                  <a:srgbClr val="5F5E5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月</a:t>
            </a:r>
            <a:r>
              <a:rPr kumimoji="1" lang="en-US" altLang="ja-JP" sz="1050">
                <a:solidFill>
                  <a:srgbClr val="5F5E5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  <a:r>
              <a:rPr kumimoji="1" lang="ja-JP" altLang="en-US" sz="1050">
                <a:solidFill>
                  <a:srgbClr val="5F5E5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510850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eiryo UI" panose="02110004020202020204"/>
        <a:ea typeface="Meiryo U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 panose="02110004020202020204"/>
        <a:ea typeface="Meiryo U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</Words>
  <Application>Microsoft Office PowerPoint</Application>
  <PresentationFormat>ユーザー設定</PresentationFormat>
  <Paragraphs>50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Meiryo UI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熊谷</dc:creator>
  <cp:lastModifiedBy>熊谷 奈保</cp:lastModifiedBy>
  <cp:revision>1</cp:revision>
  <dcterms:created xsi:type="dcterms:W3CDTF">2026-10-13T00:00:02Z</dcterms:created>
  <dcterms:modified xsi:type="dcterms:W3CDTF">2026-10-13T00:00:02Z</dcterms:modified>
</cp:coreProperties>
</file>